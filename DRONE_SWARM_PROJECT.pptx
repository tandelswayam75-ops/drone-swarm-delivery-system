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70" r:id="rId14"/>
    <p:sldId id="271" r:id="rId15"/>
    <p:sldId id="276" r:id="rId16"/>
    <p:sldId id="277" r:id="rId17"/>
    <p:sldId id="278" r:id="rId18"/>
    <p:sldId id="279" r:id="rId19"/>
    <p:sldId id="280" r:id="rId20"/>
    <p:sldId id="281" r:id="rId21"/>
    <p:sldId id="272" r:id="rId22"/>
    <p:sldId id="273" r:id="rId23"/>
    <p:sldId id="274" r:id="rId24"/>
    <p:sldId id="275" r:id="rId25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7" roundtripDataSignature="AMtx7mhI2zLJbBorCa+P19c3mKKKhhr2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268" autoAdjust="0"/>
    <p:restoredTop sz="94698"/>
  </p:normalViewPr>
  <p:slideViewPr>
    <p:cSldViewPr snapToGrid="0">
      <p:cViewPr varScale="1">
        <p:scale>
          <a:sx n="110" d="100"/>
          <a:sy n="110" d="100"/>
        </p:scale>
        <p:origin x="192" y="4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yush Tiwari" userId="68de301f539db934" providerId="LiveId" clId="{C210D1FF-2A1B-4B39-A9AF-438596988A43}"/>
    <pc:docChg chg="custSel modSld">
      <pc:chgData name="Ayush Tiwari" userId="68de301f539db934" providerId="LiveId" clId="{C210D1FF-2A1B-4B39-A9AF-438596988A43}" dt="2026-09-14T17:09:55.869" v="129" actId="20577"/>
      <pc:docMkLst>
        <pc:docMk/>
      </pc:docMkLst>
      <pc:sldChg chg="modSp mod">
        <pc:chgData name="Ayush Tiwari" userId="68de301f539db934" providerId="LiveId" clId="{C210D1FF-2A1B-4B39-A9AF-438596988A43}" dt="2026-09-14T17:00:04.093" v="42" actId="20577"/>
        <pc:sldMkLst>
          <pc:docMk/>
          <pc:sldMk cId="0" sldId="256"/>
        </pc:sldMkLst>
        <pc:spChg chg="mod">
          <ac:chgData name="Ayush Tiwari" userId="68de301f539db934" providerId="LiveId" clId="{C210D1FF-2A1B-4B39-A9AF-438596988A43}" dt="2026-09-14T17:00:04.093" v="42" actId="20577"/>
          <ac:spMkLst>
            <pc:docMk/>
            <pc:sldMk cId="0" sldId="256"/>
            <ac:spMk id="89" creationId="{00000000-0000-0000-0000-000000000000}"/>
          </ac:spMkLst>
        </pc:spChg>
      </pc:sldChg>
      <pc:sldChg chg="modSp mod">
        <pc:chgData name="Ayush Tiwari" userId="68de301f539db934" providerId="LiveId" clId="{C210D1FF-2A1B-4B39-A9AF-438596988A43}" dt="2026-09-14T17:09:55.869" v="129" actId="20577"/>
        <pc:sldMkLst>
          <pc:docMk/>
          <pc:sldMk cId="0" sldId="257"/>
        </pc:sldMkLst>
        <pc:spChg chg="mod">
          <ac:chgData name="Ayush Tiwari" userId="68de301f539db934" providerId="LiveId" clId="{C210D1FF-2A1B-4B39-A9AF-438596988A43}" dt="2026-09-14T17:09:55.869" v="129" actId="20577"/>
          <ac:spMkLst>
            <pc:docMk/>
            <pc:sldMk cId="0" sldId="257"/>
            <ac:spMk id="9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3"/>
          <p:cNvSpPr txBox="1">
            <a:spLocks noGrp="1"/>
          </p:cNvSpPr>
          <p:nvPr>
            <p:ph type="dt" idx="10"/>
          </p:nvPr>
        </p:nvSpPr>
        <p:spPr>
          <a:xfrm>
            <a:off x="457200" y="6381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3"/>
          <p:cNvSpPr txBox="1">
            <a:spLocks noGrp="1"/>
          </p:cNvSpPr>
          <p:nvPr>
            <p:ph type="ftr" idx="11"/>
          </p:nvPr>
        </p:nvSpPr>
        <p:spPr>
          <a:xfrm>
            <a:off x="3122488" y="6373546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3"/>
          <p:cNvSpPr txBox="1">
            <a:spLocks noGrp="1"/>
          </p:cNvSpPr>
          <p:nvPr>
            <p:ph type="sldNum" idx="12"/>
          </p:nvPr>
        </p:nvSpPr>
        <p:spPr>
          <a:xfrm>
            <a:off x="6553200" y="637354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>
            <a:spLocks noGrp="1"/>
          </p:cNvSpPr>
          <p:nvPr>
            <p:ph type="title"/>
          </p:nvPr>
        </p:nvSpPr>
        <p:spPr>
          <a:xfrm>
            <a:off x="457200" y="12954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4"/>
          <p:cNvSpPr txBox="1">
            <a:spLocks noGrp="1"/>
          </p:cNvSpPr>
          <p:nvPr>
            <p:ph type="body" idx="1"/>
          </p:nvPr>
        </p:nvSpPr>
        <p:spPr>
          <a:xfrm>
            <a:off x="457200" y="2286000"/>
            <a:ext cx="8229600" cy="4070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❑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4"/>
          <p:cNvSpPr txBox="1">
            <a:spLocks noGrp="1"/>
          </p:cNvSpPr>
          <p:nvPr>
            <p:ph type="dt" idx="10"/>
          </p:nvPr>
        </p:nvSpPr>
        <p:spPr>
          <a:xfrm>
            <a:off x="457200" y="6381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4"/>
          <p:cNvSpPr txBox="1">
            <a:spLocks noGrp="1"/>
          </p:cNvSpPr>
          <p:nvPr>
            <p:ph type="ftr" idx="11"/>
          </p:nvPr>
        </p:nvSpPr>
        <p:spPr>
          <a:xfrm>
            <a:off x="3122488" y="6373546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4"/>
          <p:cNvSpPr txBox="1">
            <a:spLocks noGrp="1"/>
          </p:cNvSpPr>
          <p:nvPr>
            <p:ph type="sldNum" idx="12"/>
          </p:nvPr>
        </p:nvSpPr>
        <p:spPr>
          <a:xfrm>
            <a:off x="6553200" y="637354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5"/>
          <p:cNvSpPr txBox="1">
            <a:spLocks noGrp="1"/>
          </p:cNvSpPr>
          <p:nvPr>
            <p:ph type="dt" idx="10"/>
          </p:nvPr>
        </p:nvSpPr>
        <p:spPr>
          <a:xfrm>
            <a:off x="457200" y="6381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5"/>
          <p:cNvSpPr txBox="1">
            <a:spLocks noGrp="1"/>
          </p:cNvSpPr>
          <p:nvPr>
            <p:ph type="ftr" idx="11"/>
          </p:nvPr>
        </p:nvSpPr>
        <p:spPr>
          <a:xfrm>
            <a:off x="3122488" y="6373546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5"/>
          <p:cNvSpPr txBox="1">
            <a:spLocks noGrp="1"/>
          </p:cNvSpPr>
          <p:nvPr>
            <p:ph type="sldNum" idx="12"/>
          </p:nvPr>
        </p:nvSpPr>
        <p:spPr>
          <a:xfrm>
            <a:off x="6553200" y="637354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>
            <a:spLocks noGrp="1"/>
          </p:cNvSpPr>
          <p:nvPr>
            <p:ph type="title"/>
          </p:nvPr>
        </p:nvSpPr>
        <p:spPr>
          <a:xfrm>
            <a:off x="457200" y="12954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❑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▪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❑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▪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6"/>
          <p:cNvSpPr txBox="1">
            <a:spLocks noGrp="1"/>
          </p:cNvSpPr>
          <p:nvPr>
            <p:ph type="dt" idx="10"/>
          </p:nvPr>
        </p:nvSpPr>
        <p:spPr>
          <a:xfrm>
            <a:off x="457200" y="6381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6"/>
          <p:cNvSpPr txBox="1">
            <a:spLocks noGrp="1"/>
          </p:cNvSpPr>
          <p:nvPr>
            <p:ph type="ftr" idx="11"/>
          </p:nvPr>
        </p:nvSpPr>
        <p:spPr>
          <a:xfrm>
            <a:off x="3122488" y="6373546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6"/>
          <p:cNvSpPr txBox="1">
            <a:spLocks noGrp="1"/>
          </p:cNvSpPr>
          <p:nvPr>
            <p:ph type="sldNum" idx="12"/>
          </p:nvPr>
        </p:nvSpPr>
        <p:spPr>
          <a:xfrm>
            <a:off x="6553200" y="637354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>
            <a:spLocks noGrp="1"/>
          </p:cNvSpPr>
          <p:nvPr>
            <p:ph type="title"/>
          </p:nvPr>
        </p:nvSpPr>
        <p:spPr>
          <a:xfrm>
            <a:off x="457200" y="12954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❑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❑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▪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7"/>
          <p:cNvSpPr txBox="1">
            <a:spLocks noGrp="1"/>
          </p:cNvSpPr>
          <p:nvPr>
            <p:ph type="dt" idx="10"/>
          </p:nvPr>
        </p:nvSpPr>
        <p:spPr>
          <a:xfrm>
            <a:off x="457200" y="6381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7"/>
          <p:cNvSpPr txBox="1">
            <a:spLocks noGrp="1"/>
          </p:cNvSpPr>
          <p:nvPr>
            <p:ph type="ftr" idx="11"/>
          </p:nvPr>
        </p:nvSpPr>
        <p:spPr>
          <a:xfrm>
            <a:off x="3122488" y="6373546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7"/>
          <p:cNvSpPr txBox="1">
            <a:spLocks noGrp="1"/>
          </p:cNvSpPr>
          <p:nvPr>
            <p:ph type="sldNum" idx="12"/>
          </p:nvPr>
        </p:nvSpPr>
        <p:spPr>
          <a:xfrm>
            <a:off x="6553200" y="637354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>
            <a:spLocks noGrp="1"/>
          </p:cNvSpPr>
          <p:nvPr>
            <p:ph type="title"/>
          </p:nvPr>
        </p:nvSpPr>
        <p:spPr>
          <a:xfrm>
            <a:off x="457200" y="12954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8"/>
          <p:cNvSpPr txBox="1">
            <a:spLocks noGrp="1"/>
          </p:cNvSpPr>
          <p:nvPr>
            <p:ph type="dt" idx="10"/>
          </p:nvPr>
        </p:nvSpPr>
        <p:spPr>
          <a:xfrm>
            <a:off x="457200" y="6381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8"/>
          <p:cNvSpPr txBox="1">
            <a:spLocks noGrp="1"/>
          </p:cNvSpPr>
          <p:nvPr>
            <p:ph type="ftr" idx="11"/>
          </p:nvPr>
        </p:nvSpPr>
        <p:spPr>
          <a:xfrm>
            <a:off x="3122488" y="6373546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8"/>
          <p:cNvSpPr txBox="1">
            <a:spLocks noGrp="1"/>
          </p:cNvSpPr>
          <p:nvPr>
            <p:ph type="sldNum" idx="12"/>
          </p:nvPr>
        </p:nvSpPr>
        <p:spPr>
          <a:xfrm>
            <a:off x="6553200" y="637354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>
            <a:spLocks noGrp="1"/>
          </p:cNvSpPr>
          <p:nvPr>
            <p:ph type="dt" idx="10"/>
          </p:nvPr>
        </p:nvSpPr>
        <p:spPr>
          <a:xfrm>
            <a:off x="457200" y="6381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9"/>
          <p:cNvSpPr txBox="1">
            <a:spLocks noGrp="1"/>
          </p:cNvSpPr>
          <p:nvPr>
            <p:ph type="ftr" idx="11"/>
          </p:nvPr>
        </p:nvSpPr>
        <p:spPr>
          <a:xfrm>
            <a:off x="3122488" y="6373546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9"/>
          <p:cNvSpPr txBox="1">
            <a:spLocks noGrp="1"/>
          </p:cNvSpPr>
          <p:nvPr>
            <p:ph type="sldNum" idx="12"/>
          </p:nvPr>
        </p:nvSpPr>
        <p:spPr>
          <a:xfrm>
            <a:off x="6553200" y="637354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0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0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❑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▪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▪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0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20"/>
          <p:cNvSpPr txBox="1">
            <a:spLocks noGrp="1"/>
          </p:cNvSpPr>
          <p:nvPr>
            <p:ph type="dt" idx="10"/>
          </p:nvPr>
        </p:nvSpPr>
        <p:spPr>
          <a:xfrm>
            <a:off x="457200" y="6381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0"/>
          <p:cNvSpPr txBox="1">
            <a:spLocks noGrp="1"/>
          </p:cNvSpPr>
          <p:nvPr>
            <p:ph type="ftr" idx="11"/>
          </p:nvPr>
        </p:nvSpPr>
        <p:spPr>
          <a:xfrm>
            <a:off x="3122488" y="6373546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0"/>
          <p:cNvSpPr txBox="1">
            <a:spLocks noGrp="1"/>
          </p:cNvSpPr>
          <p:nvPr>
            <p:ph type="sldNum" idx="12"/>
          </p:nvPr>
        </p:nvSpPr>
        <p:spPr>
          <a:xfrm>
            <a:off x="6553200" y="637354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1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1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21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21"/>
          <p:cNvSpPr txBox="1">
            <a:spLocks noGrp="1"/>
          </p:cNvSpPr>
          <p:nvPr>
            <p:ph type="dt" idx="10"/>
          </p:nvPr>
        </p:nvSpPr>
        <p:spPr>
          <a:xfrm>
            <a:off x="457200" y="6381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1"/>
          <p:cNvSpPr txBox="1">
            <a:spLocks noGrp="1"/>
          </p:cNvSpPr>
          <p:nvPr>
            <p:ph type="ftr" idx="11"/>
          </p:nvPr>
        </p:nvSpPr>
        <p:spPr>
          <a:xfrm>
            <a:off x="3122488" y="6373546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1"/>
          <p:cNvSpPr txBox="1">
            <a:spLocks noGrp="1"/>
          </p:cNvSpPr>
          <p:nvPr>
            <p:ph type="sldNum" idx="12"/>
          </p:nvPr>
        </p:nvSpPr>
        <p:spPr>
          <a:xfrm>
            <a:off x="6553200" y="637354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2"/>
          <p:cNvSpPr txBox="1">
            <a:spLocks noGrp="1"/>
          </p:cNvSpPr>
          <p:nvPr>
            <p:ph type="title"/>
          </p:nvPr>
        </p:nvSpPr>
        <p:spPr>
          <a:xfrm>
            <a:off x="457200" y="12954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2"/>
          <p:cNvSpPr txBox="1">
            <a:spLocks noGrp="1"/>
          </p:cNvSpPr>
          <p:nvPr>
            <p:ph type="body" idx="1"/>
          </p:nvPr>
        </p:nvSpPr>
        <p:spPr>
          <a:xfrm rot="5400000">
            <a:off x="2536824" y="206375"/>
            <a:ext cx="4070351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❑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2"/>
          <p:cNvSpPr txBox="1">
            <a:spLocks noGrp="1"/>
          </p:cNvSpPr>
          <p:nvPr>
            <p:ph type="dt" idx="10"/>
          </p:nvPr>
        </p:nvSpPr>
        <p:spPr>
          <a:xfrm>
            <a:off x="457200" y="6381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2"/>
          <p:cNvSpPr txBox="1">
            <a:spLocks noGrp="1"/>
          </p:cNvSpPr>
          <p:nvPr>
            <p:ph type="ftr" idx="11"/>
          </p:nvPr>
        </p:nvSpPr>
        <p:spPr>
          <a:xfrm>
            <a:off x="3122488" y="6373546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2"/>
          <p:cNvSpPr txBox="1">
            <a:spLocks noGrp="1"/>
          </p:cNvSpPr>
          <p:nvPr>
            <p:ph type="sldNum" idx="12"/>
          </p:nvPr>
        </p:nvSpPr>
        <p:spPr>
          <a:xfrm>
            <a:off x="6553200" y="637354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3"/>
          <p:cNvSpPr txBox="1">
            <a:spLocks noGrp="1"/>
          </p:cNvSpPr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3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❑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3"/>
          <p:cNvSpPr txBox="1">
            <a:spLocks noGrp="1"/>
          </p:cNvSpPr>
          <p:nvPr>
            <p:ph type="dt" idx="10"/>
          </p:nvPr>
        </p:nvSpPr>
        <p:spPr>
          <a:xfrm>
            <a:off x="457200" y="6381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3"/>
          <p:cNvSpPr txBox="1">
            <a:spLocks noGrp="1"/>
          </p:cNvSpPr>
          <p:nvPr>
            <p:ph type="ftr" idx="11"/>
          </p:nvPr>
        </p:nvSpPr>
        <p:spPr>
          <a:xfrm>
            <a:off x="3122488" y="6373546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3"/>
          <p:cNvSpPr txBox="1">
            <a:spLocks noGrp="1"/>
          </p:cNvSpPr>
          <p:nvPr>
            <p:ph type="sldNum" idx="12"/>
          </p:nvPr>
        </p:nvSpPr>
        <p:spPr>
          <a:xfrm>
            <a:off x="6553200" y="637354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>
            <a:spLocks noGrp="1"/>
          </p:cNvSpPr>
          <p:nvPr>
            <p:ph type="title"/>
          </p:nvPr>
        </p:nvSpPr>
        <p:spPr>
          <a:xfrm>
            <a:off x="457200" y="12954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sz="3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2"/>
          <p:cNvSpPr txBox="1">
            <a:spLocks noGrp="1"/>
          </p:cNvSpPr>
          <p:nvPr>
            <p:ph type="body" idx="1"/>
          </p:nvPr>
        </p:nvSpPr>
        <p:spPr>
          <a:xfrm>
            <a:off x="457200" y="2286000"/>
            <a:ext cx="8229600" cy="4070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2"/>
          <p:cNvSpPr txBox="1">
            <a:spLocks noGrp="1"/>
          </p:cNvSpPr>
          <p:nvPr>
            <p:ph type="dt" idx="10"/>
          </p:nvPr>
        </p:nvSpPr>
        <p:spPr>
          <a:xfrm>
            <a:off x="457200" y="6381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2"/>
          <p:cNvSpPr txBox="1">
            <a:spLocks noGrp="1"/>
          </p:cNvSpPr>
          <p:nvPr>
            <p:ph type="ftr" idx="11"/>
          </p:nvPr>
        </p:nvSpPr>
        <p:spPr>
          <a:xfrm>
            <a:off x="3122488" y="6373546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2"/>
          <p:cNvSpPr txBox="1">
            <a:spLocks noGrp="1"/>
          </p:cNvSpPr>
          <p:nvPr>
            <p:ph type="sldNum" idx="12"/>
          </p:nvPr>
        </p:nvSpPr>
        <p:spPr>
          <a:xfrm>
            <a:off x="6553200" y="637354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3776" y="1463040"/>
            <a:ext cx="8193024" cy="1097280"/>
          </a:xfrm>
        </p:spPr>
        <p:txBody>
          <a:bodyPr/>
          <a:lstStyle/>
          <a:p>
            <a:pPr algn="ctr"/>
            <a:r>
              <a:rPr sz="3200" b="1" dirty="0"/>
              <a:t>DRONE SWARM DELIVERY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4944" y="2606040"/>
            <a:ext cx="7781544" cy="3291840"/>
          </a:xfrm>
        </p:spPr>
        <p:txBody>
          <a:bodyPr/>
          <a:lstStyle/>
          <a:p>
            <a:pPr algn="l">
              <a:spcAft>
                <a:spcPts val="300"/>
              </a:spcAft>
            </a:pPr>
            <a:r>
              <a:rPr sz="1800" b="1" dirty="0">
                <a:solidFill>
                  <a:srgbClr val="2A2742"/>
                </a:solidFill>
              </a:rPr>
              <a:t>A DSA-Based Mini Project</a:t>
            </a:r>
          </a:p>
          <a:p>
            <a:pPr algn="l">
              <a:spcAft>
                <a:spcPts val="300"/>
              </a:spcAft>
            </a:pPr>
            <a:r>
              <a:rPr sz="1800" b="1" dirty="0">
                <a:solidFill>
                  <a:srgbClr val="2A2742"/>
                </a:solidFill>
              </a:rPr>
              <a:t>Presented by:</a:t>
            </a:r>
          </a:p>
          <a:p>
            <a:pPr algn="l">
              <a:spcAft>
                <a:spcPts val="300"/>
              </a:spcAft>
            </a:pPr>
            <a:r>
              <a:rPr lang="en-US" sz="1600" dirty="0">
                <a:solidFill>
                  <a:srgbClr val="2A2742"/>
                </a:solidFill>
              </a:rPr>
              <a:t>Swayam Tandel</a:t>
            </a:r>
            <a:r>
              <a:rPr sz="1600" b="0" dirty="0">
                <a:solidFill>
                  <a:srgbClr val="2A2742"/>
                </a:solidFill>
              </a:rPr>
              <a:t> - 70022500</a:t>
            </a:r>
            <a:r>
              <a:rPr lang="en-US" sz="1600" b="0" dirty="0">
                <a:solidFill>
                  <a:srgbClr val="2A2742"/>
                </a:solidFill>
              </a:rPr>
              <a:t>659</a:t>
            </a:r>
            <a:endParaRPr sz="1600" b="0" dirty="0">
              <a:solidFill>
                <a:srgbClr val="2A2742"/>
              </a:solidFill>
            </a:endParaRPr>
          </a:p>
          <a:p>
            <a:pPr algn="l">
              <a:spcAft>
                <a:spcPts val="300"/>
              </a:spcAft>
            </a:pPr>
            <a:r>
              <a:rPr lang="en-US" sz="1600" dirty="0">
                <a:solidFill>
                  <a:srgbClr val="2A2742"/>
                </a:solidFill>
              </a:rPr>
              <a:t>Palak Sharama</a:t>
            </a:r>
            <a:r>
              <a:rPr sz="1600" b="0" dirty="0">
                <a:solidFill>
                  <a:srgbClr val="2A2742"/>
                </a:solidFill>
              </a:rPr>
              <a:t>- 70022500</a:t>
            </a:r>
            <a:r>
              <a:rPr lang="en-US" sz="1600" b="0" dirty="0">
                <a:solidFill>
                  <a:srgbClr val="2A2742"/>
                </a:solidFill>
              </a:rPr>
              <a:t>120</a:t>
            </a:r>
          </a:p>
          <a:p>
            <a:pPr algn="l">
              <a:spcAft>
                <a:spcPts val="300"/>
              </a:spcAft>
            </a:pPr>
            <a:r>
              <a:rPr lang="en-IN" sz="1600" b="0" dirty="0">
                <a:solidFill>
                  <a:srgbClr val="2A2742"/>
                </a:solidFill>
              </a:rPr>
              <a:t>Vansh </a:t>
            </a:r>
            <a:r>
              <a:rPr lang="en-IN" sz="1600" b="0" dirty="0" err="1">
                <a:solidFill>
                  <a:srgbClr val="2A2742"/>
                </a:solidFill>
              </a:rPr>
              <a:t>Mandhan</a:t>
            </a:r>
            <a:r>
              <a:rPr sz="1600" b="0" dirty="0">
                <a:solidFill>
                  <a:srgbClr val="2A2742"/>
                </a:solidFill>
              </a:rPr>
              <a:t> – 70022500</a:t>
            </a:r>
            <a:r>
              <a:rPr lang="en-US" sz="1600" b="0" dirty="0">
                <a:solidFill>
                  <a:srgbClr val="2A2742"/>
                </a:solidFill>
              </a:rPr>
              <a:t>545</a:t>
            </a:r>
            <a:endParaRPr sz="1600" b="0" dirty="0">
              <a:solidFill>
                <a:srgbClr val="2A2742"/>
              </a:solidFill>
            </a:endParaRPr>
          </a:p>
          <a:p>
            <a:pPr algn="l">
              <a:spcAft>
                <a:spcPts val="300"/>
              </a:spcAft>
            </a:pPr>
            <a:endParaRPr sz="1600" b="0" dirty="0">
              <a:solidFill>
                <a:srgbClr val="2A2742"/>
              </a:solidFill>
            </a:endParaRPr>
          </a:p>
          <a:p>
            <a:pPr algn="l">
              <a:spcAft>
                <a:spcPts val="300"/>
              </a:spcAft>
            </a:pPr>
            <a:r>
              <a:rPr sz="1600" b="1" dirty="0">
                <a:solidFill>
                  <a:srgbClr val="2A2742"/>
                </a:solidFill>
              </a:rPr>
              <a:t>Subject: Data Structures &amp; Algorithms</a:t>
            </a:r>
          </a:p>
          <a:p>
            <a:pPr algn="l">
              <a:spcAft>
                <a:spcPts val="300"/>
              </a:spcAft>
            </a:pPr>
            <a:r>
              <a:rPr sz="1600" b="1" dirty="0">
                <a:solidFill>
                  <a:srgbClr val="2A2742"/>
                </a:solidFill>
              </a:rPr>
              <a:t>Course: </a:t>
            </a:r>
            <a:r>
              <a:rPr sz="1600" b="1" dirty="0" err="1">
                <a:solidFill>
                  <a:srgbClr val="2A2742"/>
                </a:solidFill>
              </a:rPr>
              <a:t>B.Tech</a:t>
            </a:r>
            <a:r>
              <a:rPr sz="1600" b="1" dirty="0">
                <a:solidFill>
                  <a:srgbClr val="2A2742"/>
                </a:solidFill>
              </a:rPr>
              <a:t> Computer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76259"/>
            <a:ext cx="8229600" cy="548640"/>
          </a:xfrm>
        </p:spPr>
        <p:txBody>
          <a:bodyPr/>
          <a:lstStyle/>
          <a:p>
            <a:pPr algn="ctr"/>
            <a:r>
              <a:rPr sz="2800" b="1" dirty="0"/>
              <a:t>Why Did We Choose This Project?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34494"/>
            <a:ext cx="8229600" cy="30162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dirty="0">
                <a:solidFill>
                  <a:srgbClr val="1F3A5F"/>
                </a:solidFill>
              </a:rPr>
              <a:t>The Idea Behind Our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64129"/>
            <a:ext cx="8229600" cy="54784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dirty="0">
                <a:solidFill>
                  <a:srgbClr val="333333"/>
                </a:solidFill>
              </a:rPr>
              <a:t>Delivering items inside a campus looks simple, but a drone delivery system must internally decide: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303752"/>
            <a:ext cx="7863840" cy="164557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28600" indent="-182880" algn="l">
              <a:spcAft>
                <a:spcPts val="400"/>
              </a:spcAft>
              <a:buChar char="•"/>
            </a:pPr>
            <a:r>
              <a:rPr sz="1800" b="0" dirty="0">
                <a:solidFill>
                  <a:srgbClr val="333333"/>
                </a:solidFill>
              </a:rPr>
              <a:t>Which task should be served first (emergency or normal)?</a:t>
            </a:r>
          </a:p>
          <a:p>
            <a:pPr marL="228600" indent="-182880" algn="l">
              <a:spcAft>
                <a:spcPts val="400"/>
              </a:spcAft>
              <a:buChar char="•"/>
            </a:pPr>
            <a:r>
              <a:rPr sz="1800" b="0" dirty="0">
                <a:solidFill>
                  <a:srgbClr val="333333"/>
                </a:solidFill>
              </a:rPr>
              <a:t>Which drone is best suited for a task?</a:t>
            </a:r>
          </a:p>
          <a:p>
            <a:pPr marL="228600" indent="-182880" algn="l">
              <a:spcAft>
                <a:spcPts val="400"/>
              </a:spcAft>
              <a:buChar char="•"/>
            </a:pPr>
            <a:r>
              <a:rPr sz="1800" b="0" dirty="0">
                <a:solidFill>
                  <a:srgbClr val="333333"/>
                </a:solidFill>
              </a:rPr>
              <a:t>Does the drone have enough battery for the whole trip?</a:t>
            </a:r>
          </a:p>
          <a:p>
            <a:pPr marL="228600" indent="-182880" algn="l">
              <a:spcAft>
                <a:spcPts val="400"/>
              </a:spcAft>
              <a:buChar char="•"/>
            </a:pPr>
            <a:r>
              <a:rPr sz="1800" b="0" dirty="0">
                <a:solidFill>
                  <a:srgbClr val="333333"/>
                </a:solidFill>
              </a:rPr>
              <a:t>What is the shortest route between two campus locations?</a:t>
            </a:r>
          </a:p>
          <a:p>
            <a:pPr marL="228600" indent="-182880" algn="l">
              <a:spcAft>
                <a:spcPts val="400"/>
              </a:spcAft>
              <a:buChar char="•"/>
            </a:pPr>
            <a:r>
              <a:rPr sz="1800" b="0" dirty="0">
                <a:solidFill>
                  <a:srgbClr val="333333"/>
                </a:solidFill>
              </a:rPr>
              <a:t>How do we keep a record of completed deliveries?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8229" y="1508760"/>
            <a:ext cx="8229600" cy="548640"/>
          </a:xfrm>
        </p:spPr>
        <p:txBody>
          <a:bodyPr/>
          <a:lstStyle/>
          <a:p>
            <a:pPr algn="ctr"/>
            <a:r>
              <a:rPr sz="2800" b="1" dirty="0"/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6171" y="2148840"/>
            <a:ext cx="82296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dirty="0">
                <a:solidFill>
                  <a:srgbClr val="333333"/>
                </a:solidFill>
              </a:rPr>
              <a:t>A campus drone delivery system should allow users to: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6171" y="2606040"/>
            <a:ext cx="7863840" cy="23774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dirty="0">
                <a:solidFill>
                  <a:srgbClr val="333333"/>
                </a:solidFill>
              </a:rPr>
              <a:t>1.  View all drones with battery, status and location</a:t>
            </a:r>
          </a:p>
          <a:p>
            <a:pPr algn="l">
              <a:spcAft>
                <a:spcPts val="500"/>
              </a:spcAft>
            </a:pPr>
            <a:r>
              <a:rPr sz="1400" b="0" dirty="0">
                <a:solidFill>
                  <a:srgbClr val="333333"/>
                </a:solidFill>
              </a:rPr>
              <a:t>2.  Add a delivery task with a priority level</a:t>
            </a:r>
          </a:p>
          <a:p>
            <a:pPr algn="l">
              <a:spcAft>
                <a:spcPts val="500"/>
              </a:spcAft>
            </a:pPr>
            <a:r>
              <a:rPr sz="1400" b="0" dirty="0">
                <a:solidFill>
                  <a:srgbClr val="333333"/>
                </a:solidFill>
              </a:rPr>
              <a:t>3.  View pending tasks</a:t>
            </a:r>
          </a:p>
          <a:p>
            <a:pPr algn="l">
              <a:spcAft>
                <a:spcPts val="500"/>
              </a:spcAft>
            </a:pPr>
            <a:r>
              <a:rPr sz="1400" b="0" dirty="0">
                <a:solidFill>
                  <a:srgbClr val="333333"/>
                </a:solidFill>
              </a:rPr>
              <a:t>4.  Assign the most suitable drone to a task</a:t>
            </a:r>
          </a:p>
          <a:p>
            <a:pPr algn="l">
              <a:spcAft>
                <a:spcPts val="500"/>
              </a:spcAft>
            </a:pPr>
            <a:r>
              <a:rPr sz="1400" b="0" dirty="0">
                <a:solidFill>
                  <a:srgbClr val="333333"/>
                </a:solidFill>
              </a:rPr>
              <a:t>5.  Find the shortest route between two locations</a:t>
            </a:r>
          </a:p>
          <a:p>
            <a:pPr algn="l">
              <a:spcAft>
                <a:spcPts val="500"/>
              </a:spcAft>
            </a:pPr>
            <a:r>
              <a:rPr sz="1400" b="0" dirty="0">
                <a:solidFill>
                  <a:srgbClr val="333333"/>
                </a:solidFill>
              </a:rPr>
              <a:t>6.  Maintain a history of completed deliveries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3A5F"/>
                </a:solidFill>
              </a:rPr>
              <a:t>The DSA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892040"/>
            <a:ext cx="8229600" cy="11887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dirty="0">
                <a:solidFill>
                  <a:srgbClr val="333333"/>
                </a:solidFill>
              </a:rPr>
              <a:t>How can we efficiently schedule tasks by priority, choose a drone and find the shortest path using appropriate data structures and algorithms?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63040"/>
            <a:ext cx="8229600" cy="548640"/>
          </a:xfrm>
        </p:spPr>
        <p:txBody>
          <a:bodyPr/>
          <a:lstStyle/>
          <a:p>
            <a:pPr algn="ctr"/>
            <a:r>
              <a:rPr sz="2800" b="1" dirty="0"/>
              <a:t>Objectives of Our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229889"/>
            <a:ext cx="7863840" cy="40233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28600" indent="-182880" algn="l">
              <a:spcAft>
                <a:spcPts val="900"/>
              </a:spcAft>
              <a:buChar char="•"/>
            </a:pPr>
            <a:r>
              <a:rPr sz="1600" b="0" dirty="0">
                <a:solidFill>
                  <a:srgbClr val="333333"/>
                </a:solidFill>
              </a:rPr>
              <a:t>To create a simple menu-driven drone delivery system</a:t>
            </a:r>
          </a:p>
          <a:p>
            <a:pPr marL="228600" indent="-182880" algn="l">
              <a:spcAft>
                <a:spcPts val="900"/>
              </a:spcAft>
              <a:buChar char="•"/>
            </a:pPr>
            <a:r>
              <a:rPr sz="1600" b="0" dirty="0">
                <a:solidFill>
                  <a:srgbClr val="333333"/>
                </a:solidFill>
              </a:rPr>
              <a:t>To apply Arrays, Structures, Queues, Linked Lists and Graphs</a:t>
            </a:r>
          </a:p>
          <a:p>
            <a:pPr marL="228600" indent="-182880" algn="l">
              <a:spcAft>
                <a:spcPts val="900"/>
              </a:spcAft>
              <a:buChar char="•"/>
            </a:pPr>
            <a:r>
              <a:rPr sz="1600" b="0" dirty="0">
                <a:solidFill>
                  <a:srgbClr val="333333"/>
                </a:solidFill>
              </a:rPr>
              <a:t>To serve tasks by priority: Emergency &gt; High &gt; Normal</a:t>
            </a:r>
          </a:p>
          <a:p>
            <a:pPr marL="228600" indent="-182880" algn="l">
              <a:spcAft>
                <a:spcPts val="900"/>
              </a:spcAft>
              <a:buChar char="•"/>
            </a:pPr>
            <a:r>
              <a:rPr sz="1600" b="0" dirty="0">
                <a:solidFill>
                  <a:srgbClr val="333333"/>
                </a:solidFill>
              </a:rPr>
              <a:t>To use circular queues for FIFO handling inside each priority</a:t>
            </a:r>
          </a:p>
          <a:p>
            <a:pPr marL="228600" indent="-182880" algn="l">
              <a:spcAft>
                <a:spcPts val="900"/>
              </a:spcAft>
              <a:buChar char="•"/>
            </a:pPr>
            <a:r>
              <a:rPr sz="1600" b="0" dirty="0">
                <a:solidFill>
                  <a:srgbClr val="333333"/>
                </a:solidFill>
              </a:rPr>
              <a:t>To find the shortest route using Dijkstra’s algorithm</a:t>
            </a:r>
          </a:p>
          <a:p>
            <a:pPr marL="228600" indent="-182880" algn="l">
              <a:spcAft>
                <a:spcPts val="900"/>
              </a:spcAft>
              <a:buChar char="•"/>
            </a:pPr>
            <a:r>
              <a:rPr sz="1600" b="0" dirty="0">
                <a:solidFill>
                  <a:srgbClr val="333333"/>
                </a:solidFill>
              </a:rPr>
              <a:t>To choose the nearest drone that has enough battery</a:t>
            </a:r>
          </a:p>
          <a:p>
            <a:pPr marL="228600" indent="-182880" algn="l">
              <a:spcAft>
                <a:spcPts val="900"/>
              </a:spcAft>
              <a:buChar char="•"/>
            </a:pPr>
            <a:r>
              <a:rPr sz="1600" b="0" dirty="0">
                <a:solidFill>
                  <a:srgbClr val="333333"/>
                </a:solidFill>
              </a:rPr>
              <a:t>To store completed deliveries in a linked list</a:t>
            </a:r>
          </a:p>
          <a:p>
            <a:pPr marL="228600" indent="-182880" algn="l">
              <a:spcAft>
                <a:spcPts val="900"/>
              </a:spcAft>
              <a:buChar char="•"/>
            </a:pPr>
            <a:r>
              <a:rPr sz="1600" b="0" dirty="0">
                <a:solidFill>
                  <a:srgbClr val="333333"/>
                </a:solidFill>
              </a:rPr>
              <a:t>To understand the practical application of DSA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34440"/>
            <a:ext cx="8229600" cy="548640"/>
          </a:xfrm>
        </p:spPr>
        <p:txBody>
          <a:bodyPr/>
          <a:lstStyle/>
          <a:p>
            <a:pPr algn="ctr"/>
            <a:r>
              <a:rPr sz="2800" b="1"/>
              <a:t>Data Structures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920240"/>
            <a:ext cx="82296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33333"/>
                </a:solidFill>
              </a:rPr>
              <a:t>Data Structures Used are :-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377440"/>
          <a:ext cx="822960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26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Data Structure</a:t>
                      </a:r>
                    </a:p>
                  </a:txBody>
                  <a:tcPr marL="64008" marR="64008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Used For</a:t>
                      </a:r>
                    </a:p>
                  </a:txBody>
                  <a:tcPr marL="64008" marR="64008" marT="27432" marB="27432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222"/>
                          </a:solidFill>
                        </a:rPr>
                        <a:t>Array</a:t>
                      </a:r>
                    </a:p>
                  </a:txBody>
                  <a:tcPr marL="64008" marR="64008" marT="27432" marB="27432" anchor="ctr"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Drones (drones[]), location names, visited / distance arrays</a:t>
                      </a:r>
                    </a:p>
                  </a:txBody>
                  <a:tcPr marL="64008" marR="64008" marT="27432" marB="27432" anchor="ctr">
                    <a:solidFill>
                      <a:srgbClr val="DCE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222"/>
                          </a:solidFill>
                        </a:rPr>
                        <a:t>Structure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Drone, Task and History records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222"/>
                          </a:solidFill>
                        </a:rPr>
                        <a:t>Circular Queue (x3)</a:t>
                      </a:r>
                    </a:p>
                  </a:txBody>
                  <a:tcPr marL="64008" marR="64008" marT="27432" marB="27432" anchor="ctr"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Emergency, High and Normal priority pending tasks</a:t>
                      </a:r>
                    </a:p>
                  </a:txBody>
                  <a:tcPr marL="64008" marR="64008" marT="27432" marB="27432" anchor="ctr">
                    <a:solidFill>
                      <a:srgbClr val="DCE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222"/>
                          </a:solidFill>
                        </a:rPr>
                        <a:t>Linked List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Delivery history (new node inserted at head)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222"/>
                          </a:solidFill>
                        </a:rPr>
                        <a:t>Graph (Adjacency Matrix)</a:t>
                      </a:r>
                    </a:p>
                  </a:txBody>
                  <a:tcPr marL="64008" marR="64008" marT="27432" marB="27432" anchor="ctr"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Campus map: 6 locations with edge distances in km</a:t>
                      </a:r>
                    </a:p>
                  </a:txBody>
                  <a:tcPr marL="64008" marR="64008" marT="27432" marB="27432" anchor="ctr">
                    <a:solidFill>
                      <a:srgbClr val="DCE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222"/>
                          </a:solidFill>
                        </a:rPr>
                        <a:t>Dijkstra’s Algorithm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Shortest distance and route between two locations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34440"/>
            <a:ext cx="8229600" cy="548640"/>
          </a:xfrm>
        </p:spPr>
        <p:txBody>
          <a:bodyPr/>
          <a:lstStyle/>
          <a:p>
            <a:pPr algn="ctr"/>
            <a:r>
              <a:rPr sz="2800" b="1"/>
              <a:t>Priority Task Queues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3A5F"/>
                </a:solidFill>
              </a:rPr>
              <a:t>Three Circular Queues  →  FIFO inside each priority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331720"/>
            <a:ext cx="1371600" cy="548640"/>
          </a:xfrm>
          <a:prstGeom prst="roundRect">
            <a:avLst/>
          </a:prstGeom>
          <a:solidFill>
            <a:srgbClr val="F8DAD8"/>
          </a:solidFill>
          <a:ln w="15875">
            <a:solidFill>
              <a:srgbClr val="B52B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200" b="1">
                <a:solidFill>
                  <a:srgbClr val="222222"/>
                </a:solidFill>
              </a:rPr>
              <a:t>Emergency</a:t>
            </a:r>
          </a:p>
        </p:txBody>
      </p:sp>
      <p:sp>
        <p:nvSpPr>
          <p:cNvPr id="5" name="Rectangle 4"/>
          <p:cNvSpPr/>
          <p:nvPr/>
        </p:nvSpPr>
        <p:spPr>
          <a:xfrm>
            <a:off x="2194560" y="2331720"/>
            <a:ext cx="73152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B52B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200" b="1">
                <a:solidFill>
                  <a:srgbClr val="222222"/>
                </a:solidFill>
              </a:rPr>
              <a:t>T7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926080" y="2606039"/>
            <a:ext cx="365759" cy="0"/>
          </a:xfrm>
          <a:prstGeom prst="line">
            <a:avLst/>
          </a:prstGeom>
          <a:ln w="15875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3291839" y="2331720"/>
            <a:ext cx="73152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B52B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200" b="1">
                <a:solidFill>
                  <a:srgbClr val="222222"/>
                </a:solidFill>
              </a:rPr>
              <a:t>T12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023359" y="2606039"/>
            <a:ext cx="365761" cy="0"/>
          </a:xfrm>
          <a:prstGeom prst="line">
            <a:avLst/>
          </a:prstGeom>
          <a:ln w="15875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4389120" y="2331720"/>
            <a:ext cx="73152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B52B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200" b="1">
                <a:solidFill>
                  <a:srgbClr val="222222"/>
                </a:solidFill>
              </a:rPr>
              <a:t>T3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2898648"/>
            <a:ext cx="137160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B52B27"/>
                </a:solidFill>
              </a:rPr>
              <a:t>FRONT 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898648"/>
            <a:ext cx="109728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B52B27"/>
                </a:solidFill>
              </a:rPr>
              <a:t>REAR 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337560"/>
            <a:ext cx="1371600" cy="548640"/>
          </a:xfrm>
          <a:prstGeom prst="roundRect">
            <a:avLst/>
          </a:prstGeom>
          <a:solidFill>
            <a:srgbClr val="FFF2CC"/>
          </a:solidFill>
          <a:ln w="1587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200" b="1">
                <a:solidFill>
                  <a:srgbClr val="222222"/>
                </a:solidFill>
              </a:rPr>
              <a:t>High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94560" y="3337560"/>
            <a:ext cx="73152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200" b="1">
                <a:solidFill>
                  <a:srgbClr val="222222"/>
                </a:solidFill>
              </a:rPr>
              <a:t>T5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926080" y="3611879"/>
            <a:ext cx="365759" cy="0"/>
          </a:xfrm>
          <a:prstGeom prst="line">
            <a:avLst/>
          </a:prstGeom>
          <a:ln w="15875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291839" y="3337560"/>
            <a:ext cx="73152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200" b="1">
                <a:solidFill>
                  <a:srgbClr val="222222"/>
                </a:solidFill>
              </a:rPr>
              <a:t>T9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3904487"/>
            <a:ext cx="137160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BF9000"/>
                </a:solidFill>
              </a:rPr>
              <a:t>FRONT 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399" y="3904487"/>
            <a:ext cx="109728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BF9000"/>
                </a:solidFill>
              </a:rPr>
              <a:t>REAR 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343400"/>
            <a:ext cx="1371600" cy="548640"/>
          </a:xfrm>
          <a:prstGeom prst="roundRect">
            <a:avLst/>
          </a:prstGeom>
          <a:solidFill>
            <a:srgbClr val="D9EFDC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200" b="1">
                <a:solidFill>
                  <a:srgbClr val="222222"/>
                </a:solidFill>
              </a:rPr>
              <a:t>Normal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94560" y="4343400"/>
            <a:ext cx="73152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200" b="1">
                <a:solidFill>
                  <a:srgbClr val="222222"/>
                </a:solidFill>
              </a:rPr>
              <a:t>T1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926080" y="4617720"/>
            <a:ext cx="365759" cy="0"/>
          </a:xfrm>
          <a:prstGeom prst="line">
            <a:avLst/>
          </a:prstGeom>
          <a:ln w="15875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3291839" y="4343400"/>
            <a:ext cx="73152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200" b="1">
                <a:solidFill>
                  <a:srgbClr val="222222"/>
                </a:solidFill>
              </a:rPr>
              <a:t>T2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023359" y="4617720"/>
            <a:ext cx="365761" cy="0"/>
          </a:xfrm>
          <a:prstGeom prst="line">
            <a:avLst/>
          </a:prstGeom>
          <a:ln w="15875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4389120" y="4343400"/>
            <a:ext cx="73152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200" b="1">
                <a:solidFill>
                  <a:srgbClr val="222222"/>
                </a:solidFill>
              </a:rPr>
              <a:t>T4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120640" y="4617720"/>
            <a:ext cx="365760" cy="0"/>
          </a:xfrm>
          <a:prstGeom prst="line">
            <a:avLst/>
          </a:prstGeom>
          <a:ln w="15875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5486400" y="4343400"/>
            <a:ext cx="73152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200" b="1">
                <a:solidFill>
                  <a:srgbClr val="222222"/>
                </a:solidFill>
              </a:rPr>
              <a:t>T6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94560" y="4910328"/>
            <a:ext cx="137160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2E7D32"/>
                </a:solidFill>
              </a:rPr>
              <a:t>FRONT 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4960" y="4910328"/>
            <a:ext cx="109728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2E7D32"/>
                </a:solidFill>
              </a:rPr>
              <a:t>REAR 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394960"/>
            <a:ext cx="822960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3A5F"/>
                </a:solidFill>
              </a:rPr>
              <a:t>How the next task is selected (getNextTask)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669280"/>
            <a:ext cx="822960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</a:rPr>
              <a:t>Emergency queue first → if empty, High queue → if empty, Normal queue. Rear wraps to index 0 when MAX_TASKS (50) is reached (circular).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34440"/>
            <a:ext cx="8229600" cy="548640"/>
          </a:xfrm>
        </p:spPr>
        <p:txBody>
          <a:bodyPr/>
          <a:lstStyle/>
          <a:p>
            <a:pPr algn="ctr"/>
            <a:r>
              <a:rPr sz="2800" b="1"/>
              <a:t>Campus Map as a Graph</a:t>
            </a:r>
          </a:p>
        </p:txBody>
      </p:sp>
      <p:cxnSp>
        <p:nvCxnSpPr>
          <p:cNvPr id="3" name="Connector 2"/>
          <p:cNvCxnSpPr/>
          <p:nvPr/>
        </p:nvCxnSpPr>
        <p:spPr>
          <a:xfrm flipV="1">
            <a:off x="1508760" y="2514600"/>
            <a:ext cx="4572000" cy="640080"/>
          </a:xfrm>
          <a:prstGeom prst="line">
            <a:avLst/>
          </a:prstGeom>
          <a:ln w="190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3566160" y="2715768"/>
            <a:ext cx="457200" cy="237744"/>
          </a:xfrm>
          <a:prstGeom prst="rect">
            <a:avLst/>
          </a:prstGeom>
          <a:solidFill>
            <a:srgbClr val="FFFFFF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900" b="1">
                <a:solidFill>
                  <a:srgbClr val="222222"/>
                </a:solidFill>
              </a:rPr>
              <a:t>0.7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2514600"/>
            <a:ext cx="2194560" cy="0"/>
          </a:xfrm>
          <a:prstGeom prst="line">
            <a:avLst/>
          </a:prstGeom>
          <a:ln w="190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6949440" y="2395728"/>
            <a:ext cx="457200" cy="237744"/>
          </a:xfrm>
          <a:prstGeom prst="rect">
            <a:avLst/>
          </a:prstGeom>
          <a:solidFill>
            <a:srgbClr val="FFFFFF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900" b="1">
                <a:solidFill>
                  <a:srgbClr val="222222"/>
                </a:solidFill>
              </a:rPr>
              <a:t>0.1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80760" y="2514600"/>
            <a:ext cx="0" cy="1463039"/>
          </a:xfrm>
          <a:prstGeom prst="line">
            <a:avLst/>
          </a:prstGeom>
          <a:ln w="190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852160" y="3127248"/>
            <a:ext cx="457200" cy="237744"/>
          </a:xfrm>
          <a:prstGeom prst="rect">
            <a:avLst/>
          </a:prstGeom>
          <a:solidFill>
            <a:srgbClr val="FFFFFF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900" b="1">
                <a:solidFill>
                  <a:srgbClr val="222222"/>
                </a:solidFill>
              </a:rPr>
              <a:t>0.2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48840" y="5257800"/>
            <a:ext cx="2468880" cy="0"/>
          </a:xfrm>
          <a:prstGeom prst="line">
            <a:avLst/>
          </a:prstGeom>
          <a:ln w="190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3154680" y="5138928"/>
            <a:ext cx="457200" cy="237744"/>
          </a:xfrm>
          <a:prstGeom prst="rect">
            <a:avLst/>
          </a:prstGeom>
          <a:solidFill>
            <a:srgbClr val="FFFFFF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900" b="1">
                <a:solidFill>
                  <a:srgbClr val="222222"/>
                </a:solidFill>
              </a:rPr>
              <a:t>0.1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4617720" y="3977639"/>
            <a:ext cx="1463040" cy="1280161"/>
          </a:xfrm>
          <a:prstGeom prst="line">
            <a:avLst/>
          </a:prstGeom>
          <a:ln w="190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5120640" y="4498848"/>
            <a:ext cx="457200" cy="237744"/>
          </a:xfrm>
          <a:prstGeom prst="rect">
            <a:avLst/>
          </a:prstGeom>
          <a:solidFill>
            <a:srgbClr val="FFFFFF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900" b="1">
                <a:solidFill>
                  <a:srgbClr val="222222"/>
                </a:solidFill>
              </a:rPr>
              <a:t>0.1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508760" y="3154680"/>
            <a:ext cx="640080" cy="2103120"/>
          </a:xfrm>
          <a:prstGeom prst="line">
            <a:avLst/>
          </a:prstGeom>
          <a:ln w="190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1600200" y="4087368"/>
            <a:ext cx="457200" cy="237744"/>
          </a:xfrm>
          <a:prstGeom prst="rect">
            <a:avLst/>
          </a:prstGeom>
          <a:solidFill>
            <a:srgbClr val="FFFFFF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900" b="1">
                <a:solidFill>
                  <a:srgbClr val="222222"/>
                </a:solidFill>
              </a:rPr>
              <a:t>0.5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2148840" y="3977639"/>
            <a:ext cx="3931920" cy="1280161"/>
          </a:xfrm>
          <a:prstGeom prst="line">
            <a:avLst/>
          </a:prstGeom>
          <a:ln w="190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3886200" y="4498848"/>
            <a:ext cx="457200" cy="237744"/>
          </a:xfrm>
          <a:prstGeom prst="rect">
            <a:avLst/>
          </a:prstGeom>
          <a:solidFill>
            <a:srgbClr val="FFFFFF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900" b="1">
                <a:solidFill>
                  <a:srgbClr val="222222"/>
                </a:solidFill>
              </a:rPr>
              <a:t>0.5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508760" y="3154680"/>
            <a:ext cx="4572000" cy="822959"/>
          </a:xfrm>
          <a:prstGeom prst="line">
            <a:avLst/>
          </a:prstGeom>
          <a:ln w="190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3566160" y="3447288"/>
            <a:ext cx="457200" cy="237744"/>
          </a:xfrm>
          <a:prstGeom prst="rect">
            <a:avLst/>
          </a:prstGeom>
          <a:solidFill>
            <a:srgbClr val="FFFFFF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900" b="1">
                <a:solidFill>
                  <a:srgbClr val="222222"/>
                </a:solidFill>
              </a:rPr>
              <a:t>0.6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2926080"/>
            <a:ext cx="1188720" cy="457200"/>
          </a:xfrm>
          <a:prstGeom prst="roundRect">
            <a:avLst/>
          </a:prstGeom>
          <a:solidFill>
            <a:srgbClr val="DCE6F2"/>
          </a:solidFill>
          <a:ln w="15875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000" b="1">
                <a:solidFill>
                  <a:srgbClr val="222222"/>
                </a:solidFill>
              </a:rPr>
              <a:t>Main Gate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0" y="2286000"/>
            <a:ext cx="1188720" cy="457200"/>
          </a:xfrm>
          <a:prstGeom prst="roundRect">
            <a:avLst/>
          </a:prstGeom>
          <a:solidFill>
            <a:srgbClr val="DCE6F2"/>
          </a:solidFill>
          <a:ln w="15875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000" b="1">
                <a:solidFill>
                  <a:srgbClr val="222222"/>
                </a:solidFill>
              </a:rPr>
              <a:t>Girl Hostel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80960" y="2286000"/>
            <a:ext cx="1188720" cy="457200"/>
          </a:xfrm>
          <a:prstGeom prst="roundRect">
            <a:avLst/>
          </a:prstGeom>
          <a:solidFill>
            <a:srgbClr val="DCE6F2"/>
          </a:solidFill>
          <a:ln w="15875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000" b="1">
                <a:solidFill>
                  <a:srgbClr val="222222"/>
                </a:solidFill>
              </a:rPr>
              <a:t>Staff Quarter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554480" y="5029200"/>
            <a:ext cx="1188720" cy="457200"/>
          </a:xfrm>
          <a:prstGeom prst="roundRect">
            <a:avLst/>
          </a:prstGeom>
          <a:solidFill>
            <a:srgbClr val="DCE6F2"/>
          </a:solidFill>
          <a:ln w="15875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000" b="1">
                <a:solidFill>
                  <a:srgbClr val="222222"/>
                </a:solidFill>
              </a:rPr>
              <a:t>College Campus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023360" y="5029200"/>
            <a:ext cx="1188720" cy="457200"/>
          </a:xfrm>
          <a:prstGeom prst="roundRect">
            <a:avLst/>
          </a:prstGeom>
          <a:solidFill>
            <a:srgbClr val="DCE6F2"/>
          </a:solidFill>
          <a:ln w="15875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000" b="1">
                <a:solidFill>
                  <a:srgbClr val="222222"/>
                </a:solidFill>
              </a:rPr>
              <a:t>Sports Ground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0" y="3749039"/>
            <a:ext cx="1188720" cy="457200"/>
          </a:xfrm>
          <a:prstGeom prst="roundRect">
            <a:avLst/>
          </a:prstGeom>
          <a:solidFill>
            <a:srgbClr val="DCE6F2"/>
          </a:solidFill>
          <a:ln w="15875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000" b="1">
                <a:solidFill>
                  <a:srgbClr val="222222"/>
                </a:solidFill>
              </a:rPr>
              <a:t>Boys Hostel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760720"/>
            <a:ext cx="822960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</a:rPr>
              <a:t>Weights are distances in km. Stored in graph[6][6]; INF (9999) means no direct edge. Graph is undirected, so both graph[i][j] and graph[j][i] are set.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34440"/>
            <a:ext cx="8229600" cy="548640"/>
          </a:xfrm>
        </p:spPr>
        <p:txBody>
          <a:bodyPr/>
          <a:lstStyle/>
          <a:p>
            <a:pPr algn="ctr"/>
            <a:r>
              <a:rPr sz="2800" b="1"/>
              <a:t>Drone Assignment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3A5F"/>
                </a:solidFill>
              </a:rPr>
              <a:t>For every available drone (status = 0) the system calculates: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4365329"/>
              </p:ext>
            </p:extLst>
          </p:nvPr>
        </p:nvGraphicFramePr>
        <p:xfrm>
          <a:off x="457200" y="2240280"/>
          <a:ext cx="82296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200" b="1" dirty="0">
                          <a:solidFill>
                            <a:srgbClr val="FFFFFF"/>
                          </a:solidFill>
                        </a:rPr>
                        <a:t>Quantity</a:t>
                      </a:r>
                    </a:p>
                  </a:txBody>
                  <a:tcPr marL="64008" marR="64008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How it is computed</a:t>
                      </a:r>
                    </a:p>
                  </a:txBody>
                  <a:tcPr marL="64008" marR="64008" marT="27432" marB="27432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</a:rPr>
                        <a:t>droneToSource</a:t>
                      </a:r>
                    </a:p>
                  </a:txBody>
                  <a:tcPr marL="64008" marR="64008" marT="27432" marB="27432" anchor="ctr"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Dijkstra(drone location → task source)</a:t>
                      </a:r>
                    </a:p>
                  </a:txBody>
                  <a:tcPr marL="64008" marR="64008" marT="27432" marB="27432" anchor="ctr">
                    <a:solidFill>
                      <a:srgbClr val="DCE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</a:rPr>
                        <a:t>sourceToDestination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Dijkstra(task source → task destination)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 b="1" dirty="0" err="1">
                          <a:solidFill>
                            <a:srgbClr val="222222"/>
                          </a:solidFill>
                        </a:rPr>
                        <a:t>returnDistance</a:t>
                      </a:r>
                      <a:endParaRPr sz="1200" b="1" dirty="0">
                        <a:solidFill>
                          <a:srgbClr val="222222"/>
                        </a:solidFill>
                      </a:endParaRPr>
                    </a:p>
                  </a:txBody>
                  <a:tcPr marL="64008" marR="64008" marT="27432" marB="27432" anchor="ctr"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</a:rPr>
                        <a:t>Dijkstra(task destination → drone location)</a:t>
                      </a:r>
                    </a:p>
                  </a:txBody>
                  <a:tcPr marL="64008" marR="64008" marT="27432" marB="27432" anchor="ctr">
                    <a:solidFill>
                      <a:srgbClr val="DCE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</a:rPr>
                        <a:t>requiredBattery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222222"/>
                          </a:solidFill>
                        </a:rPr>
                        <a:t>(</a:t>
                      </a:r>
                      <a:r>
                        <a:rPr sz="1200" dirty="0" err="1">
                          <a:solidFill>
                            <a:srgbClr val="222222"/>
                          </a:solidFill>
                        </a:rPr>
                        <a:t>droneToSource</a:t>
                      </a:r>
                      <a:r>
                        <a:rPr sz="1200" dirty="0">
                          <a:solidFill>
                            <a:srgbClr val="222222"/>
                          </a:solidFill>
                        </a:rPr>
                        <a:t> + </a:t>
                      </a:r>
                      <a:r>
                        <a:rPr sz="1200" dirty="0" err="1">
                          <a:solidFill>
                            <a:srgbClr val="222222"/>
                          </a:solidFill>
                        </a:rPr>
                        <a:t>sourceToDestination</a:t>
                      </a:r>
                      <a:r>
                        <a:rPr sz="1200" dirty="0">
                          <a:solidFill>
                            <a:srgbClr val="222222"/>
                          </a:solidFill>
                        </a:rPr>
                        <a:t> + </a:t>
                      </a:r>
                      <a:r>
                        <a:rPr sz="1200" dirty="0" err="1">
                          <a:solidFill>
                            <a:srgbClr val="222222"/>
                          </a:solidFill>
                        </a:rPr>
                        <a:t>returnDistance</a:t>
                      </a:r>
                      <a:r>
                        <a:rPr sz="1200" dirty="0">
                          <a:solidFill>
                            <a:srgbClr val="222222"/>
                          </a:solidFill>
                        </a:rPr>
                        <a:t>) × 10  (%)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3A5F"/>
                </a:solidFill>
              </a:rPr>
              <a:t>Selection rule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663440"/>
            <a:ext cx="8229600" cy="1554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28600" indent="-182880" algn="l">
              <a:spcAft>
                <a:spcPts val="400"/>
              </a:spcAft>
              <a:buChar char="•"/>
            </a:pPr>
            <a:r>
              <a:rPr sz="1300" b="0">
                <a:solidFill>
                  <a:srgbClr val="333333"/>
                </a:solidFill>
              </a:rPr>
              <a:t>Drone is eligible only if battery ≥ requiredBattery</a:t>
            </a:r>
          </a:p>
          <a:p>
            <a:pPr marL="228600" indent="-182880" algn="l">
              <a:spcAft>
                <a:spcPts val="400"/>
              </a:spcAft>
              <a:buChar char="•"/>
            </a:pPr>
            <a:r>
              <a:rPr sz="1300" b="0">
                <a:solidFill>
                  <a:srgbClr val="333333"/>
                </a:solidFill>
              </a:rPr>
              <a:t>Among eligible drones, the one with the smallest droneToSource is chosen</a:t>
            </a:r>
          </a:p>
          <a:p>
            <a:pPr marL="228600" indent="-182880" algn="l">
              <a:spcAft>
                <a:spcPts val="400"/>
              </a:spcAft>
              <a:buChar char="•"/>
            </a:pPr>
            <a:r>
              <a:rPr sz="1300" b="0">
                <a:solidFill>
                  <a:srgbClr val="333333"/>
                </a:solidFill>
              </a:rPr>
              <a:t>If no drone is eligible, the task is put back in its priority queue</a:t>
            </a:r>
          </a:p>
          <a:p>
            <a:pPr marL="228600" indent="-182880" algn="l">
              <a:spcAft>
                <a:spcPts val="400"/>
              </a:spcAft>
              <a:buChar char="•"/>
            </a:pPr>
            <a:r>
              <a:rPr sz="1300" b="0">
                <a:solidFill>
                  <a:srgbClr val="333333"/>
                </a:solidFill>
              </a:rPr>
              <a:t>After delivery: battery is reduced, drone location = destination, record added to history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114" y="1393107"/>
            <a:ext cx="8229600" cy="548640"/>
          </a:xfrm>
        </p:spPr>
        <p:txBody>
          <a:bodyPr/>
          <a:lstStyle/>
          <a:p>
            <a:pPr algn="ctr"/>
            <a:r>
              <a:rPr sz="2800" b="1" dirty="0"/>
              <a:t>Delivery History – Linked 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988820"/>
            <a:ext cx="822960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dirty="0">
                <a:solidFill>
                  <a:srgbClr val="1F3A5F"/>
                </a:solidFill>
              </a:rPr>
              <a:t>Why Linked List?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48840"/>
            <a:ext cx="8229600" cy="753027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endParaRPr lang="en-US" sz="1400" b="0" dirty="0">
              <a:solidFill>
                <a:srgbClr val="333333"/>
              </a:solidFill>
            </a:endParaRPr>
          </a:p>
          <a:p>
            <a:pPr algn="l">
              <a:spcAft>
                <a:spcPts val="400"/>
              </a:spcAft>
            </a:pPr>
            <a:r>
              <a:rPr sz="1400" b="0" dirty="0">
                <a:solidFill>
                  <a:srgbClr val="333333"/>
                </a:solidFill>
              </a:rPr>
              <a:t>Every completed delivery is stored as a node. The history can grow dynamically (malloc), and each new node is inserted at the head in O(1).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0"/>
            <a:ext cx="822960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3A5F"/>
                </a:solidFill>
              </a:rPr>
              <a:t>Each node (struct History) contains: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29000"/>
            <a:ext cx="3657600" cy="1371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28600" indent="-182880" algn="l">
              <a:spcAft>
                <a:spcPts val="400"/>
              </a:spcAft>
              <a:buChar char="•"/>
            </a:pPr>
            <a:r>
              <a:rPr sz="1200" b="0">
                <a:solidFill>
                  <a:srgbClr val="333333"/>
                </a:solidFill>
              </a:rPr>
              <a:t>Task ID</a:t>
            </a:r>
          </a:p>
          <a:p>
            <a:pPr marL="228600" indent="-182880" algn="l">
              <a:spcAft>
                <a:spcPts val="400"/>
              </a:spcAft>
              <a:buChar char="•"/>
            </a:pPr>
            <a:r>
              <a:rPr sz="1200" b="0">
                <a:solidFill>
                  <a:srgbClr val="333333"/>
                </a:solidFill>
              </a:rPr>
              <a:t>Drone ID</a:t>
            </a:r>
          </a:p>
          <a:p>
            <a:pPr marL="228600" indent="-182880" algn="l">
              <a:spcAft>
                <a:spcPts val="400"/>
              </a:spcAft>
              <a:buChar char="•"/>
            </a:pPr>
            <a:r>
              <a:rPr sz="1200" b="0">
                <a:solidFill>
                  <a:srgbClr val="333333"/>
                </a:solidFill>
              </a:rPr>
              <a:t>Destination</a:t>
            </a:r>
          </a:p>
          <a:p>
            <a:pPr marL="228600" indent="-182880" algn="l">
              <a:spcAft>
                <a:spcPts val="400"/>
              </a:spcAft>
              <a:buChar char="•"/>
            </a:pPr>
            <a:r>
              <a:rPr sz="1200" b="0">
                <a:solidFill>
                  <a:srgbClr val="333333"/>
                </a:solidFill>
              </a:rPr>
              <a:t>Distance (km)</a:t>
            </a:r>
          </a:p>
          <a:p>
            <a:pPr marL="228600" indent="-182880" algn="l">
              <a:spcAft>
                <a:spcPts val="400"/>
              </a:spcAft>
              <a:buChar char="•"/>
            </a:pPr>
            <a:r>
              <a:rPr sz="1200" b="0">
                <a:solidFill>
                  <a:srgbClr val="333333"/>
                </a:solidFill>
              </a:rPr>
              <a:t>Pointer to next node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681728"/>
            <a:ext cx="18288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B52B27"/>
                </a:solidFill>
              </a:rPr>
              <a:t>historyHead ↓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983480"/>
            <a:ext cx="1554480" cy="731520"/>
          </a:xfrm>
          <a:prstGeom prst="rect">
            <a:avLst/>
          </a:prstGeom>
          <a:solidFill>
            <a:srgbClr val="DCE6F2"/>
          </a:solidFill>
          <a:ln w="15875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100" b="0">
                <a:solidFill>
                  <a:srgbClr val="222222"/>
                </a:solidFill>
              </a:rPr>
              <a:t>Task 3</a:t>
            </a:r>
          </a:p>
          <a:p>
            <a:pPr algn="ctr"/>
            <a:r>
              <a:rPr sz="1100" b="0">
                <a:solidFill>
                  <a:srgbClr val="222222"/>
                </a:solidFill>
              </a:rPr>
              <a:t>Drone 105</a:t>
            </a:r>
          </a:p>
          <a:p>
            <a:pPr algn="ctr"/>
            <a:r>
              <a:rPr sz="1100" b="0">
                <a:solidFill>
                  <a:srgbClr val="222222"/>
                </a:solidFill>
              </a:rPr>
              <a:t>| next |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03120" y="5349240"/>
            <a:ext cx="457200" cy="0"/>
          </a:xfrm>
          <a:prstGeom prst="line">
            <a:avLst/>
          </a:prstGeom>
          <a:ln w="15875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560320" y="4983480"/>
            <a:ext cx="1554480" cy="731520"/>
          </a:xfrm>
          <a:prstGeom prst="rect">
            <a:avLst/>
          </a:prstGeom>
          <a:solidFill>
            <a:srgbClr val="DCE6F2"/>
          </a:solidFill>
          <a:ln w="15875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100" b="0">
                <a:solidFill>
                  <a:srgbClr val="222222"/>
                </a:solidFill>
              </a:rPr>
              <a:t>Task 2</a:t>
            </a:r>
          </a:p>
          <a:p>
            <a:pPr algn="ctr"/>
            <a:r>
              <a:rPr sz="1100" b="0">
                <a:solidFill>
                  <a:srgbClr val="222222"/>
                </a:solidFill>
              </a:rPr>
              <a:t>Drone 102</a:t>
            </a:r>
          </a:p>
          <a:p>
            <a:pPr algn="ctr"/>
            <a:r>
              <a:rPr sz="1100" b="0">
                <a:solidFill>
                  <a:srgbClr val="222222"/>
                </a:solidFill>
              </a:rPr>
              <a:t>| next |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114800" y="5349240"/>
            <a:ext cx="457200" cy="0"/>
          </a:xfrm>
          <a:prstGeom prst="line">
            <a:avLst/>
          </a:prstGeom>
          <a:ln w="15875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4572000" y="4983480"/>
            <a:ext cx="1554480" cy="731520"/>
          </a:xfrm>
          <a:prstGeom prst="rect">
            <a:avLst/>
          </a:prstGeom>
          <a:solidFill>
            <a:srgbClr val="DCE6F2"/>
          </a:solidFill>
          <a:ln w="15875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100" b="0">
                <a:solidFill>
                  <a:srgbClr val="222222"/>
                </a:solidFill>
              </a:rPr>
              <a:t>Task 1</a:t>
            </a:r>
          </a:p>
          <a:p>
            <a:pPr algn="ctr"/>
            <a:r>
              <a:rPr sz="1100" b="0">
                <a:solidFill>
                  <a:srgbClr val="222222"/>
                </a:solidFill>
              </a:rPr>
              <a:t>Drone 101</a:t>
            </a:r>
          </a:p>
          <a:p>
            <a:pPr algn="ctr"/>
            <a:r>
              <a:rPr sz="1100" b="0">
                <a:solidFill>
                  <a:srgbClr val="222222"/>
                </a:solidFill>
              </a:rPr>
              <a:t>| next |</a:t>
            </a:r>
          </a:p>
        </p:txBody>
      </p:sp>
      <p:sp>
        <p:nvSpPr>
          <p:cNvPr id="13" name="Terminator 12"/>
          <p:cNvSpPr/>
          <p:nvPr/>
        </p:nvSpPr>
        <p:spPr>
          <a:xfrm>
            <a:off x="6675120" y="5120640"/>
            <a:ext cx="914400" cy="457200"/>
          </a:xfrm>
          <a:prstGeom prst="flowChartTerminator">
            <a:avLst/>
          </a:prstGeom>
          <a:solidFill>
            <a:srgbClr val="F8DAD8"/>
          </a:solidFill>
          <a:ln w="15875">
            <a:solidFill>
              <a:srgbClr val="B52B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100" b="1">
                <a:solidFill>
                  <a:srgbClr val="222222"/>
                </a:solidFill>
              </a:rPr>
              <a:t>NULL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126480" y="5349240"/>
            <a:ext cx="548640" cy="0"/>
          </a:xfrm>
          <a:prstGeom prst="line">
            <a:avLst/>
          </a:prstGeom>
          <a:ln w="15875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57200" y="5897880"/>
            <a:ext cx="82296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</a:rPr>
              <a:t>Latest delivery is shown first (insertion at head).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34440"/>
            <a:ext cx="8229600" cy="548640"/>
          </a:xfrm>
        </p:spPr>
        <p:txBody>
          <a:bodyPr/>
          <a:lstStyle/>
          <a:p>
            <a:pPr algn="ctr"/>
            <a:r>
              <a:rPr sz="2800" b="1"/>
              <a:t>Algorithm 1: Add Delivery Task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3A5F"/>
                </a:solidFill>
              </a:rPr>
              <a:t>addTask()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94560"/>
            <a:ext cx="8229600" cy="40233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</a:rPr>
              <a:t>1.  START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</a:rPr>
              <a:t>2.  Read Task ID, source location and destination location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</a:rPr>
              <a:t>3.  If source or destination is outside 0 … 5 → print “Invalid location” and STOP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</a:rPr>
              <a:t>4.  Read priority (1 = Emergency, 2 = High, 3 = Normal)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</a:rPr>
              <a:t>5.  If priority is outside 1 … 3 → print “Invalid priority” and STOP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</a:rPr>
              <a:t>6.  distance ← calculateShortestDistance(source, destination)  (Dijkstra)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</a:rPr>
              <a:t>7.  Set droneID ← -1 (not yet assigned)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</a:rPr>
              <a:t>8.  If priority = 1 → enqueueEmergency(task)</a:t>
            </a:r>
          </a:p>
          <a:p>
            <a:pPr marL="594360" indent="-182880" algn="l">
              <a:spcAft>
                <a:spcPts val="200"/>
              </a:spcAft>
              <a:buChar char="–"/>
            </a:pPr>
            <a:r>
              <a:rPr sz="1200" b="0">
                <a:solidFill>
                  <a:srgbClr val="333333"/>
                </a:solidFill>
              </a:rPr>
              <a:t>else if priority = 2 → enqueueHigh(task), else enqueueNormal(task)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</a:rPr>
              <a:t>9.  Display “Task added successfully” with shortest distance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</a:rPr>
              <a:t>10.  STOP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34440"/>
            <a:ext cx="8229600" cy="548640"/>
          </a:xfrm>
        </p:spPr>
        <p:txBody>
          <a:bodyPr/>
          <a:lstStyle/>
          <a:p>
            <a:pPr algn="ctr"/>
            <a:r>
              <a:rPr sz="2800" b="1"/>
              <a:t>Algorithm 2: Assign Drone to Task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3A5F"/>
                </a:solidFill>
              </a:rPr>
              <a:t>assignDrone()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48840"/>
            <a:ext cx="8229600" cy="41148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</a:rPr>
              <a:t>1.  If total pending tasks = 0 → print message and STOP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</a:rPr>
              <a:t>2.  task ← getNextTask()  (Emergency → High → Normal)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</a:rPr>
              <a:t>3.  selected ← -1, minimumDistance ← INF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</a:rPr>
              <a:t>4.  For each drone i with status = Available:</a:t>
            </a:r>
          </a:p>
          <a:p>
            <a:pPr marL="594360" indent="-182880" algn="l">
              <a:spcAft>
                <a:spcPts val="200"/>
              </a:spcAft>
              <a:buChar char="–"/>
            </a:pPr>
            <a:r>
              <a:rPr sz="1200" b="0">
                <a:solidFill>
                  <a:srgbClr val="333333"/>
                </a:solidFill>
              </a:rPr>
              <a:t>droneToSource, sourceToDest, returnDist ← Dijkstra distances</a:t>
            </a:r>
          </a:p>
          <a:p>
            <a:pPr marL="594360" indent="-182880" algn="l">
              <a:spcAft>
                <a:spcPts val="200"/>
              </a:spcAft>
              <a:buChar char="–"/>
            </a:pPr>
            <a:r>
              <a:rPr sz="1200" b="0">
                <a:solidFill>
                  <a:srgbClr val="333333"/>
                </a:solidFill>
              </a:rPr>
              <a:t>requiredBattery ← (sum of three distances) × 10</a:t>
            </a:r>
          </a:p>
          <a:p>
            <a:pPr marL="594360" indent="-182880" algn="l">
              <a:spcAft>
                <a:spcPts val="200"/>
              </a:spcAft>
              <a:buChar char="–"/>
            </a:pPr>
            <a:r>
              <a:rPr sz="1200" b="0">
                <a:solidFill>
                  <a:srgbClr val="333333"/>
                </a:solidFill>
              </a:rPr>
              <a:t>If battery ≥ requiredBattery and droneToSource &lt; minimumDistance → selected ← i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</a:rPr>
              <a:t>5.  If selected = -1 → re-enqueue task into its queue and STOP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</a:rPr>
              <a:t>6.  Mark drone busy, store droneID in task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</a:rPr>
              <a:t>7.  Update drone: location ← destination, battery ← battery − requiredBattery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</a:rPr>
              <a:t>8.  addHistory(task); drone status ← Available; update statistics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</a:rPr>
              <a:t>9.  STOP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34440"/>
            <a:ext cx="8229600" cy="548640"/>
          </a:xfrm>
        </p:spPr>
        <p:txBody>
          <a:bodyPr/>
          <a:lstStyle/>
          <a:p>
            <a:pPr algn="ctr"/>
            <a:r>
              <a:rPr sz="2800" b="1"/>
              <a:t>Algorithm 3: Dijkstra’s Shortest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3A5F"/>
                </a:solidFill>
              </a:rPr>
              <a:t>dijkstra(source, destination)  –  array-based, V =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48840"/>
            <a:ext cx="8229600" cy="41148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</a:rPr>
              <a:t>1.  For every vertex: distance ← INF, visited ← 0, parent ← -1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</a:rPr>
              <a:t>2.  distance[source] ← 0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</a:rPr>
              <a:t>3.  Repeat V times:</a:t>
            </a:r>
          </a:p>
          <a:p>
            <a:pPr marL="594360" indent="-182880" algn="l">
              <a:spcAft>
                <a:spcPts val="200"/>
              </a:spcAft>
              <a:buChar char="–"/>
            </a:pPr>
            <a:r>
              <a:rPr sz="1200" b="0">
                <a:solidFill>
                  <a:srgbClr val="333333"/>
                </a:solidFill>
              </a:rPr>
              <a:t>Pick unvisited vertex u with minimum distance</a:t>
            </a:r>
          </a:p>
          <a:p>
            <a:pPr marL="594360" indent="-182880" algn="l">
              <a:spcAft>
                <a:spcPts val="200"/>
              </a:spcAft>
              <a:buChar char="–"/>
            </a:pPr>
            <a:r>
              <a:rPr sz="1200" b="0">
                <a:solidFill>
                  <a:srgbClr val="333333"/>
                </a:solidFill>
              </a:rPr>
              <a:t>If no such vertex exists (u = -1) → break</a:t>
            </a:r>
          </a:p>
          <a:p>
            <a:pPr marL="594360" indent="-182880" algn="l">
              <a:spcAft>
                <a:spcPts val="200"/>
              </a:spcAft>
              <a:buChar char="–"/>
            </a:pPr>
            <a:r>
              <a:rPr sz="1200" b="0">
                <a:solidFill>
                  <a:srgbClr val="333333"/>
                </a:solidFill>
              </a:rPr>
              <a:t>Mark u as visited</a:t>
            </a:r>
          </a:p>
          <a:p>
            <a:pPr marL="594360" indent="-182880" algn="l">
              <a:spcAft>
                <a:spcPts val="200"/>
              </a:spcAft>
              <a:buChar char="–"/>
            </a:pPr>
            <a:r>
              <a:rPr sz="1200" b="0">
                <a:solidFill>
                  <a:srgbClr val="333333"/>
                </a:solidFill>
              </a:rPr>
              <a:t>For each vertex v: if edge u–v exists, v not visited and distance[u] + w(u,v) &lt; distance[v]:</a:t>
            </a:r>
          </a:p>
          <a:p>
            <a:pPr marL="594360" indent="-182880" algn="l">
              <a:spcAft>
                <a:spcPts val="200"/>
              </a:spcAft>
              <a:buChar char="–"/>
            </a:pPr>
            <a:r>
              <a:rPr sz="1200" b="0">
                <a:solidFill>
                  <a:srgbClr val="333333"/>
                </a:solidFill>
              </a:rPr>
              <a:t>set distance[v] ← distance[u] + w(u,v) and parent[v] ← u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</a:rPr>
              <a:t>4.  If distance[destination] = INF → print “No route available” and STOP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</a:rPr>
              <a:t>5.  Follow parent[] from destination back to source to build the path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</a:rPr>
              <a:t>6.  Print the path in reverse order and total distance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</a:rPr>
              <a:t>7.  STOP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34440"/>
            <a:ext cx="8229600" cy="548640"/>
          </a:xfrm>
        </p:spPr>
        <p:txBody>
          <a:bodyPr/>
          <a:lstStyle/>
          <a:p>
            <a:pPr algn="ctr"/>
            <a:r>
              <a:rPr sz="2800" b="1" dirty="0"/>
              <a:t>Flowchart </a:t>
            </a:r>
            <a:r>
              <a:rPr lang="en-US" sz="2800" b="1" dirty="0"/>
              <a:t>1</a:t>
            </a:r>
            <a:r>
              <a:rPr sz="2800" b="1" dirty="0"/>
              <a:t>: Assign Drone</a:t>
            </a:r>
          </a:p>
        </p:txBody>
      </p:sp>
      <p:sp>
        <p:nvSpPr>
          <p:cNvPr id="3" name="Terminator 2"/>
          <p:cNvSpPr/>
          <p:nvPr/>
        </p:nvSpPr>
        <p:spPr>
          <a:xfrm>
            <a:off x="822960" y="1783080"/>
            <a:ext cx="1371600" cy="320040"/>
          </a:xfrm>
          <a:prstGeom prst="flowChartTerminator">
            <a:avLst/>
          </a:prstGeom>
          <a:solidFill>
            <a:srgbClr val="D9EFDC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000" b="1">
                <a:solidFill>
                  <a:srgbClr val="222222"/>
                </a:solidFill>
              </a:rPr>
              <a:t>START</a:t>
            </a:r>
          </a:p>
        </p:txBody>
      </p:sp>
      <p:sp>
        <p:nvSpPr>
          <p:cNvPr id="4" name="Diamond 3"/>
          <p:cNvSpPr/>
          <p:nvPr/>
        </p:nvSpPr>
        <p:spPr>
          <a:xfrm>
            <a:off x="365760" y="2240280"/>
            <a:ext cx="2286000" cy="73152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900" b="0">
                <a:solidFill>
                  <a:srgbClr val="222222"/>
                </a:solidFill>
              </a:rPr>
              <a:t>Any pending</a:t>
            </a:r>
          </a:p>
          <a:p>
            <a:pPr algn="ctr"/>
            <a:r>
              <a:rPr sz="900" b="0">
                <a:solidFill>
                  <a:srgbClr val="222222"/>
                </a:solidFill>
              </a:rPr>
              <a:t>tasks?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3108960"/>
            <a:ext cx="2286000" cy="640080"/>
          </a:xfrm>
          <a:prstGeom prst="roundRect">
            <a:avLst/>
          </a:prstGeom>
          <a:solidFill>
            <a:srgbClr val="DCE6F2"/>
          </a:solidFill>
          <a:ln w="15875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900" b="0">
                <a:solidFill>
                  <a:srgbClr val="222222"/>
                </a:solidFill>
              </a:rPr>
              <a:t>task ← getNextTask()</a:t>
            </a:r>
          </a:p>
          <a:p>
            <a:pPr algn="ctr"/>
            <a:r>
              <a:rPr sz="900" b="0">
                <a:solidFill>
                  <a:srgbClr val="222222"/>
                </a:solidFill>
              </a:rPr>
              <a:t>selected ← -1, i ← 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508760" y="2103120"/>
            <a:ext cx="0" cy="137160"/>
          </a:xfrm>
          <a:prstGeom prst="line">
            <a:avLst/>
          </a:prstGeom>
          <a:ln w="15875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508760" y="2971800"/>
            <a:ext cx="0" cy="137160"/>
          </a:xfrm>
          <a:prstGeom prst="line">
            <a:avLst/>
          </a:prstGeom>
          <a:ln w="15875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554480" y="2926080"/>
            <a:ext cx="45720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2E7D32"/>
                </a:solidFill>
              </a:rPr>
              <a:t>YES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2377440"/>
            <a:ext cx="2377440" cy="457200"/>
          </a:xfrm>
          <a:prstGeom prst="roundRect">
            <a:avLst/>
          </a:prstGeom>
          <a:solidFill>
            <a:srgbClr val="F8DAD8"/>
          </a:solidFill>
          <a:ln w="15875">
            <a:solidFill>
              <a:srgbClr val="B52B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900" b="0">
                <a:solidFill>
                  <a:srgbClr val="222222"/>
                </a:solidFill>
              </a:rPr>
              <a:t>No pending task → END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651760" y="2606040"/>
            <a:ext cx="640080" cy="0"/>
          </a:xfrm>
          <a:prstGeom prst="line">
            <a:avLst/>
          </a:prstGeom>
          <a:ln w="15875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743200" y="2286000"/>
            <a:ext cx="45720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B52B27"/>
                </a:solidFill>
              </a:rPr>
              <a:t>NO</a:t>
            </a:r>
          </a:p>
        </p:txBody>
      </p:sp>
      <p:sp>
        <p:nvSpPr>
          <p:cNvPr id="12" name="Diamond 11"/>
          <p:cNvSpPr/>
          <p:nvPr/>
        </p:nvSpPr>
        <p:spPr>
          <a:xfrm>
            <a:off x="3200400" y="3794760"/>
            <a:ext cx="2560320" cy="82296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900" b="0">
                <a:solidFill>
                  <a:srgbClr val="222222"/>
                </a:solidFill>
              </a:rPr>
              <a:t>i &lt; droneCount?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429000"/>
            <a:ext cx="1828800" cy="0"/>
          </a:xfrm>
          <a:prstGeom prst="line">
            <a:avLst/>
          </a:prstGeom>
          <a:ln w="15875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480560" y="3429000"/>
            <a:ext cx="0" cy="365760"/>
          </a:xfrm>
          <a:prstGeom prst="line">
            <a:avLst/>
          </a:prstGeom>
          <a:ln w="15875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200400" y="4754880"/>
            <a:ext cx="2560320" cy="457200"/>
          </a:xfrm>
          <a:prstGeom prst="roundRect">
            <a:avLst/>
          </a:prstGeom>
          <a:solidFill>
            <a:srgbClr val="DCE6F2"/>
          </a:solidFill>
          <a:ln w="15875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800" b="0">
                <a:solidFill>
                  <a:srgbClr val="222222"/>
                </a:solidFill>
              </a:rPr>
              <a:t>Drone i Available? 3 × Dijkstra</a:t>
            </a:r>
          </a:p>
          <a:p>
            <a:pPr algn="ctr"/>
            <a:r>
              <a:rPr sz="800" b="0">
                <a:solidFill>
                  <a:srgbClr val="222222"/>
                </a:solidFill>
              </a:rPr>
              <a:t>required = total × 10</a:t>
            </a:r>
          </a:p>
        </p:txBody>
      </p:sp>
      <p:sp>
        <p:nvSpPr>
          <p:cNvPr id="16" name="Diamond 15"/>
          <p:cNvSpPr/>
          <p:nvPr/>
        </p:nvSpPr>
        <p:spPr>
          <a:xfrm>
            <a:off x="3200400" y="5303520"/>
            <a:ext cx="2560320" cy="77724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900" b="0">
                <a:solidFill>
                  <a:srgbClr val="222222"/>
                </a:solidFill>
              </a:rPr>
              <a:t>battery ≥ required</a:t>
            </a:r>
          </a:p>
          <a:p>
            <a:pPr algn="ctr"/>
            <a:r>
              <a:rPr sz="900" b="0">
                <a:solidFill>
                  <a:srgbClr val="222222"/>
                </a:solidFill>
              </a:rPr>
              <a:t>&amp; nearest so far?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0" y="6172200"/>
            <a:ext cx="2560320" cy="292608"/>
          </a:xfrm>
          <a:prstGeom prst="roundRect">
            <a:avLst/>
          </a:prstGeom>
          <a:solidFill>
            <a:srgbClr val="DCE6F2"/>
          </a:solidFill>
          <a:ln w="15875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900" b="0">
                <a:solidFill>
                  <a:srgbClr val="222222"/>
                </a:solidFill>
              </a:rPr>
              <a:t>selected ← 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480560" y="4617720"/>
            <a:ext cx="0" cy="137160"/>
          </a:xfrm>
          <a:prstGeom prst="line">
            <a:avLst/>
          </a:prstGeom>
          <a:ln w="15875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72000" y="4526280"/>
            <a:ext cx="45720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2E7D32"/>
                </a:solidFill>
              </a:rPr>
              <a:t>YES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480560" y="5212080"/>
            <a:ext cx="0" cy="91440"/>
          </a:xfrm>
          <a:prstGeom prst="line">
            <a:avLst/>
          </a:prstGeom>
          <a:ln w="15875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480560" y="6080760"/>
            <a:ext cx="0" cy="91440"/>
          </a:xfrm>
          <a:prstGeom prst="line">
            <a:avLst/>
          </a:prstGeom>
          <a:ln w="15875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572000" y="5989320"/>
            <a:ext cx="45720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2E7D32"/>
                </a:solidFill>
              </a:rPr>
              <a:t>YES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2971800" y="6318504"/>
            <a:ext cx="228600" cy="0"/>
          </a:xfrm>
          <a:prstGeom prst="line">
            <a:avLst/>
          </a:prstGeom>
          <a:ln w="15875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2971800" y="4206240"/>
            <a:ext cx="0" cy="2112264"/>
          </a:xfrm>
          <a:prstGeom prst="line">
            <a:avLst/>
          </a:prstGeom>
          <a:ln w="15875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971800" y="4206240"/>
            <a:ext cx="228600" cy="0"/>
          </a:xfrm>
          <a:prstGeom prst="line">
            <a:avLst/>
          </a:prstGeom>
          <a:ln w="15875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2971800" y="5692140"/>
            <a:ext cx="228600" cy="0"/>
          </a:xfrm>
          <a:prstGeom prst="line">
            <a:avLst/>
          </a:prstGeom>
          <a:ln w="15875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606040" y="5440680"/>
            <a:ext cx="45720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B52B27"/>
                </a:solidFill>
              </a:rPr>
              <a:t>NO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943600"/>
            <a:ext cx="201168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333333"/>
                </a:solidFill>
              </a:rPr>
              <a:t>Next drone: i ← i + 1</a:t>
            </a:r>
          </a:p>
        </p:txBody>
      </p:sp>
      <p:sp>
        <p:nvSpPr>
          <p:cNvPr id="29" name="Diamond 28"/>
          <p:cNvSpPr/>
          <p:nvPr/>
        </p:nvSpPr>
        <p:spPr>
          <a:xfrm>
            <a:off x="6263640" y="3794760"/>
            <a:ext cx="2468880" cy="82296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900" b="0">
                <a:solidFill>
                  <a:srgbClr val="222222"/>
                </a:solidFill>
              </a:rPr>
              <a:t>selected = -1?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760720" y="4206240"/>
            <a:ext cx="502920" cy="0"/>
          </a:xfrm>
          <a:prstGeom prst="line">
            <a:avLst/>
          </a:prstGeom>
          <a:ln w="15875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760720" y="3931920"/>
            <a:ext cx="45720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B52B27"/>
                </a:solidFill>
              </a:rPr>
              <a:t>NO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55080" y="2651760"/>
            <a:ext cx="2286000" cy="640080"/>
          </a:xfrm>
          <a:prstGeom prst="roundRect">
            <a:avLst/>
          </a:prstGeom>
          <a:solidFill>
            <a:srgbClr val="F8DAD8"/>
          </a:solidFill>
          <a:ln w="15875">
            <a:solidFill>
              <a:srgbClr val="B52B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900" b="0">
                <a:solidFill>
                  <a:srgbClr val="222222"/>
                </a:solidFill>
              </a:rPr>
              <a:t>Re-enqueue task into</a:t>
            </a:r>
          </a:p>
          <a:p>
            <a:pPr algn="ctr"/>
            <a:r>
              <a:rPr sz="900" b="0">
                <a:solidFill>
                  <a:srgbClr val="222222"/>
                </a:solidFill>
              </a:rPr>
              <a:t>its queue → END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7498080" y="3291840"/>
            <a:ext cx="0" cy="502920"/>
          </a:xfrm>
          <a:prstGeom prst="line">
            <a:avLst/>
          </a:prstGeom>
          <a:ln w="15875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543800" y="3429000"/>
            <a:ext cx="45720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B52B27"/>
                </a:solidFill>
              </a:rPr>
              <a:t>YES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55080" y="4846320"/>
            <a:ext cx="2286000" cy="548640"/>
          </a:xfrm>
          <a:prstGeom prst="roundRect">
            <a:avLst/>
          </a:prstGeom>
          <a:solidFill>
            <a:srgbClr val="DCE6F2"/>
          </a:solidFill>
          <a:ln w="15875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900" b="0">
                <a:solidFill>
                  <a:srgbClr val="222222"/>
                </a:solidFill>
              </a:rPr>
              <a:t>Drone busy; location ← dest</a:t>
            </a:r>
          </a:p>
          <a:p>
            <a:pPr algn="ctr"/>
            <a:r>
              <a:rPr sz="900" b="0">
                <a:solidFill>
                  <a:srgbClr val="222222"/>
                </a:solidFill>
              </a:rPr>
              <a:t>battery −= required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55080" y="5532120"/>
            <a:ext cx="2286000" cy="457200"/>
          </a:xfrm>
          <a:prstGeom prst="roundRect">
            <a:avLst/>
          </a:prstGeom>
          <a:solidFill>
            <a:srgbClr val="DCE6F2"/>
          </a:solidFill>
          <a:ln w="15875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900" b="0">
                <a:solidFill>
                  <a:srgbClr val="222222"/>
                </a:solidFill>
              </a:rPr>
              <a:t>addHistory(); drone free;</a:t>
            </a:r>
          </a:p>
          <a:p>
            <a:pPr algn="ctr"/>
            <a:r>
              <a:rPr sz="900" b="0">
                <a:solidFill>
                  <a:srgbClr val="222222"/>
                </a:solidFill>
              </a:rPr>
              <a:t>deliveries++</a:t>
            </a:r>
          </a:p>
        </p:txBody>
      </p:sp>
      <p:sp>
        <p:nvSpPr>
          <p:cNvPr id="37" name="Terminator 36"/>
          <p:cNvSpPr/>
          <p:nvPr/>
        </p:nvSpPr>
        <p:spPr>
          <a:xfrm>
            <a:off x="6858000" y="6126480"/>
            <a:ext cx="1280160" cy="292608"/>
          </a:xfrm>
          <a:prstGeom prst="flowChartTerminator">
            <a:avLst/>
          </a:prstGeom>
          <a:solidFill>
            <a:srgbClr val="D9EFDC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000" b="1">
                <a:solidFill>
                  <a:srgbClr val="222222"/>
                </a:solidFill>
              </a:rPr>
              <a:t>END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498080" y="4617720"/>
            <a:ext cx="0" cy="228600"/>
          </a:xfrm>
          <a:prstGeom prst="line">
            <a:avLst/>
          </a:prstGeom>
          <a:ln w="15875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7543800" y="4617720"/>
            <a:ext cx="45720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2E7D32"/>
                </a:solidFill>
              </a:rPr>
              <a:t>NO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7498080" y="5394960"/>
            <a:ext cx="0" cy="137160"/>
          </a:xfrm>
          <a:prstGeom prst="line">
            <a:avLst/>
          </a:prstGeom>
          <a:ln w="15875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7498080" y="5989320"/>
            <a:ext cx="0" cy="137160"/>
          </a:xfrm>
          <a:prstGeom prst="line">
            <a:avLst/>
          </a:prstGeom>
          <a:ln w="15875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34440"/>
            <a:ext cx="8229600" cy="548640"/>
          </a:xfrm>
        </p:spPr>
        <p:txBody>
          <a:bodyPr/>
          <a:lstStyle/>
          <a:p>
            <a:pPr algn="ctr"/>
            <a:r>
              <a:rPr sz="2800" b="1" dirty="0"/>
              <a:t>Flowchart </a:t>
            </a:r>
            <a:r>
              <a:rPr lang="en-US" sz="2800" b="1" dirty="0"/>
              <a:t>2</a:t>
            </a:r>
            <a:r>
              <a:rPr sz="2800" b="1" dirty="0"/>
              <a:t>: Dijkstra’s Algorithm</a:t>
            </a:r>
          </a:p>
        </p:txBody>
      </p:sp>
      <p:sp>
        <p:nvSpPr>
          <p:cNvPr id="3" name="Terminator 2"/>
          <p:cNvSpPr/>
          <p:nvPr/>
        </p:nvSpPr>
        <p:spPr>
          <a:xfrm>
            <a:off x="822960" y="1783080"/>
            <a:ext cx="1371600" cy="320040"/>
          </a:xfrm>
          <a:prstGeom prst="flowChartTerminator">
            <a:avLst/>
          </a:prstGeom>
          <a:solidFill>
            <a:srgbClr val="D9EFDC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000" b="1">
                <a:solidFill>
                  <a:srgbClr val="222222"/>
                </a:solidFill>
              </a:rPr>
              <a:t>START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2286000"/>
            <a:ext cx="2377440" cy="822960"/>
          </a:xfrm>
          <a:prstGeom prst="roundRect">
            <a:avLst/>
          </a:prstGeom>
          <a:solidFill>
            <a:srgbClr val="DCE6F2"/>
          </a:solidFill>
          <a:ln w="15875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900" b="0">
                <a:solidFill>
                  <a:srgbClr val="222222"/>
                </a:solidFill>
              </a:rPr>
              <a:t>dist[all] ← INF</a:t>
            </a:r>
          </a:p>
          <a:p>
            <a:pPr algn="ctr"/>
            <a:r>
              <a:rPr sz="900" b="0">
                <a:solidFill>
                  <a:srgbClr val="222222"/>
                </a:solidFill>
              </a:rPr>
              <a:t>visited ← 0, parent ← -1</a:t>
            </a:r>
          </a:p>
          <a:p>
            <a:pPr algn="ctr"/>
            <a:r>
              <a:rPr sz="900" b="0">
                <a:solidFill>
                  <a:srgbClr val="222222"/>
                </a:solidFill>
              </a:rPr>
              <a:t>dist[src] ← 0, i ← 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508760" y="2103120"/>
            <a:ext cx="45720" cy="182880"/>
          </a:xfrm>
          <a:prstGeom prst="line">
            <a:avLst/>
          </a:prstGeom>
          <a:ln w="15875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iamond 5"/>
          <p:cNvSpPr/>
          <p:nvPr/>
        </p:nvSpPr>
        <p:spPr>
          <a:xfrm>
            <a:off x="3200400" y="3291840"/>
            <a:ext cx="2560320" cy="82296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900" b="0">
                <a:solidFill>
                  <a:srgbClr val="222222"/>
                </a:solidFill>
              </a:rPr>
              <a:t>i &lt; V 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743200" y="2697480"/>
            <a:ext cx="1737360" cy="0"/>
          </a:xfrm>
          <a:prstGeom prst="line">
            <a:avLst/>
          </a:prstGeom>
          <a:ln w="15875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480560" y="2697480"/>
            <a:ext cx="0" cy="594360"/>
          </a:xfrm>
          <a:prstGeom prst="line">
            <a:avLst/>
          </a:prstGeom>
          <a:ln w="15875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200400" y="4297680"/>
            <a:ext cx="2560320" cy="502920"/>
          </a:xfrm>
          <a:prstGeom prst="roundRect">
            <a:avLst/>
          </a:prstGeom>
          <a:solidFill>
            <a:srgbClr val="DCE6F2"/>
          </a:solidFill>
          <a:ln w="15875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900" b="0">
                <a:solidFill>
                  <a:srgbClr val="222222"/>
                </a:solidFill>
              </a:rPr>
              <a:t>u ← unvisited vertex</a:t>
            </a:r>
          </a:p>
          <a:p>
            <a:pPr algn="ctr"/>
            <a:r>
              <a:rPr sz="900" b="0">
                <a:solidFill>
                  <a:srgbClr val="222222"/>
                </a:solidFill>
              </a:rPr>
              <a:t>with minimum dist</a:t>
            </a:r>
          </a:p>
        </p:txBody>
      </p:sp>
      <p:sp>
        <p:nvSpPr>
          <p:cNvPr id="10" name="Diamond 9"/>
          <p:cNvSpPr/>
          <p:nvPr/>
        </p:nvSpPr>
        <p:spPr>
          <a:xfrm>
            <a:off x="3200400" y="4937760"/>
            <a:ext cx="2560320" cy="82296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900" b="0">
                <a:solidFill>
                  <a:srgbClr val="222222"/>
                </a:solidFill>
              </a:rPr>
              <a:t>u = -1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5897880"/>
            <a:ext cx="2560320" cy="548640"/>
          </a:xfrm>
          <a:prstGeom prst="roundRect">
            <a:avLst/>
          </a:prstGeom>
          <a:solidFill>
            <a:srgbClr val="DCE6F2"/>
          </a:solidFill>
          <a:ln w="15875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900" b="0">
                <a:solidFill>
                  <a:srgbClr val="222222"/>
                </a:solidFill>
              </a:rPr>
              <a:t>visited[u] ← 1; relax all v</a:t>
            </a:r>
          </a:p>
          <a:p>
            <a:pPr algn="ctr"/>
            <a:r>
              <a:rPr sz="900" b="0">
                <a:solidFill>
                  <a:srgbClr val="222222"/>
                </a:solidFill>
              </a:rPr>
              <a:t>update dist, parent; i++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480560" y="4114800"/>
            <a:ext cx="0" cy="182880"/>
          </a:xfrm>
          <a:prstGeom prst="line">
            <a:avLst/>
          </a:prstGeom>
          <a:ln w="15875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572000" y="4069080"/>
            <a:ext cx="45720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2E7D32"/>
                </a:solidFill>
              </a:rPr>
              <a:t>YES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480560" y="4800600"/>
            <a:ext cx="0" cy="137160"/>
          </a:xfrm>
          <a:prstGeom prst="line">
            <a:avLst/>
          </a:prstGeom>
          <a:ln w="15875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480560" y="5760720"/>
            <a:ext cx="0" cy="137160"/>
          </a:xfrm>
          <a:prstGeom prst="line">
            <a:avLst/>
          </a:prstGeom>
          <a:ln w="15875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572000" y="5760720"/>
            <a:ext cx="45720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2E7D32"/>
                </a:solidFill>
              </a:rPr>
              <a:t>NO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2971800" y="6172200"/>
            <a:ext cx="228600" cy="0"/>
          </a:xfrm>
          <a:prstGeom prst="line">
            <a:avLst/>
          </a:prstGeom>
          <a:ln w="15875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2971800" y="3703320"/>
            <a:ext cx="0" cy="2468880"/>
          </a:xfrm>
          <a:prstGeom prst="line">
            <a:avLst/>
          </a:prstGeom>
          <a:ln w="15875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971800" y="3703320"/>
            <a:ext cx="228600" cy="0"/>
          </a:xfrm>
          <a:prstGeom prst="line">
            <a:avLst/>
          </a:prstGeom>
          <a:ln w="15875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Diamond 19"/>
          <p:cNvSpPr/>
          <p:nvPr/>
        </p:nvSpPr>
        <p:spPr>
          <a:xfrm>
            <a:off x="6263640" y="3291840"/>
            <a:ext cx="2468880" cy="82296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900" b="0">
                <a:solidFill>
                  <a:srgbClr val="222222"/>
                </a:solidFill>
              </a:rPr>
              <a:t>dist[dest] = INF ?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760720" y="3703320"/>
            <a:ext cx="502920" cy="0"/>
          </a:xfrm>
          <a:prstGeom prst="line">
            <a:avLst/>
          </a:prstGeom>
          <a:ln w="15875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760720" y="3474720"/>
            <a:ext cx="45720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B52B27"/>
                </a:solidFill>
              </a:rPr>
              <a:t>NO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760720" y="5349240"/>
            <a:ext cx="274320" cy="0"/>
          </a:xfrm>
          <a:prstGeom prst="line">
            <a:avLst/>
          </a:prstGeom>
          <a:ln w="15875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6035040" y="3703320"/>
            <a:ext cx="0" cy="1645920"/>
          </a:xfrm>
          <a:prstGeom prst="line">
            <a:avLst/>
          </a:prstGeom>
          <a:ln w="15875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760720" y="5120640"/>
            <a:ext cx="45720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B52B27"/>
                </a:solidFill>
              </a:rPr>
              <a:t>YES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55080" y="2103120"/>
            <a:ext cx="2286000" cy="640080"/>
          </a:xfrm>
          <a:prstGeom prst="roundRect">
            <a:avLst/>
          </a:prstGeom>
          <a:solidFill>
            <a:srgbClr val="F8DAD8"/>
          </a:solidFill>
          <a:ln w="15875">
            <a:solidFill>
              <a:srgbClr val="B52B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900" b="0">
                <a:solidFill>
                  <a:srgbClr val="222222"/>
                </a:solidFill>
              </a:rPr>
              <a:t>“No route available”</a:t>
            </a:r>
          </a:p>
          <a:p>
            <a:pPr algn="ctr"/>
            <a:r>
              <a:rPr sz="900" b="0">
                <a:solidFill>
                  <a:srgbClr val="222222"/>
                </a:solidFill>
              </a:rPr>
              <a:t>→ END</a:t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7498080" y="2743200"/>
            <a:ext cx="0" cy="548640"/>
          </a:xfrm>
          <a:prstGeom prst="line">
            <a:avLst/>
          </a:prstGeom>
          <a:ln w="15875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543800" y="2926080"/>
            <a:ext cx="45720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B52B27"/>
                </a:solidFill>
              </a:rPr>
              <a:t>YES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55080" y="4389120"/>
            <a:ext cx="2286000" cy="731520"/>
          </a:xfrm>
          <a:prstGeom prst="roundRect">
            <a:avLst/>
          </a:prstGeom>
          <a:solidFill>
            <a:srgbClr val="DCE6F2"/>
          </a:solidFill>
          <a:ln w="15875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900" b="0">
                <a:solidFill>
                  <a:srgbClr val="222222"/>
                </a:solidFill>
              </a:rPr>
              <a:t>Trace parent[] from dest</a:t>
            </a:r>
          </a:p>
          <a:p>
            <a:pPr algn="ctr"/>
            <a:r>
              <a:rPr sz="900" b="0">
                <a:solidFill>
                  <a:srgbClr val="222222"/>
                </a:solidFill>
              </a:rPr>
              <a:t>to src; print path</a:t>
            </a:r>
          </a:p>
          <a:p>
            <a:pPr algn="ctr"/>
            <a:r>
              <a:rPr sz="900" b="0">
                <a:solidFill>
                  <a:srgbClr val="222222"/>
                </a:solidFill>
              </a:rPr>
              <a:t>and total distance</a:t>
            </a:r>
          </a:p>
        </p:txBody>
      </p:sp>
      <p:sp>
        <p:nvSpPr>
          <p:cNvPr id="30" name="Terminator 29"/>
          <p:cNvSpPr/>
          <p:nvPr/>
        </p:nvSpPr>
        <p:spPr>
          <a:xfrm>
            <a:off x="6858000" y="5394960"/>
            <a:ext cx="1280160" cy="320040"/>
          </a:xfrm>
          <a:prstGeom prst="flowChartTerminator">
            <a:avLst/>
          </a:prstGeom>
          <a:solidFill>
            <a:srgbClr val="D9EFDC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000" b="1">
                <a:solidFill>
                  <a:srgbClr val="222222"/>
                </a:solidFill>
              </a:rPr>
              <a:t>END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498080" y="4114800"/>
            <a:ext cx="0" cy="274320"/>
          </a:xfrm>
          <a:prstGeom prst="line">
            <a:avLst/>
          </a:prstGeom>
          <a:ln w="15875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543800" y="4160520"/>
            <a:ext cx="45720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2E7D32"/>
                </a:solidFill>
              </a:rPr>
              <a:t>NO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498080" y="5120640"/>
            <a:ext cx="0" cy="274320"/>
          </a:xfrm>
          <a:prstGeom prst="line">
            <a:avLst/>
          </a:prstGeom>
          <a:ln w="15875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0A85B-5736-0F0F-9F3C-BDD1AB8CF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C8FACC-0D48-FD7C-1C8A-51040638DD4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15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04A800-83CB-EDCC-04D6-6F0E02C21C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07" y="2209799"/>
            <a:ext cx="8989802" cy="4357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1958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9C6D668-0F6D-BB45-E4CB-560E595482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459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9E4EB764-F8E4-1AF9-CB4F-25F203F9421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IN" smtClean="0"/>
              <a:pPr marL="0" lvl="0" indent="0" algn="r" rtl="0">
                <a:spcBef>
                  <a:spcPts val="0"/>
                </a:spcBef>
                <a:spcAft>
                  <a:spcPts val="600"/>
                </a:spcAft>
                <a:buNone/>
              </a:pPr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12403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3BDAD062-F71F-F178-7BD3-4C5961A782F7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2"/>
          <a:srcRect t="4459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Slide Number Placeholder 4" hidden="1">
            <a:extLst>
              <a:ext uri="{FF2B5EF4-FFF2-40B4-BE49-F238E27FC236}">
                <a16:creationId xmlns:a16="http://schemas.microsoft.com/office/drawing/2014/main" id="{B3DFBC0E-945A-0886-6E13-7E818AC3248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IN" smtClean="0"/>
              <a:pPr marL="0" lvl="0" indent="0" algn="r" rtl="0">
                <a:spcBef>
                  <a:spcPts val="0"/>
                </a:spcBef>
                <a:spcAft>
                  <a:spcPts val="600"/>
                </a:spcAft>
                <a:buNone/>
              </a:pPr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27129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3C6EEC84-9DA5-99A8-C0DD-7F9DAA107B2A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2"/>
          <a:srcRect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Slide Number Placeholder 4" hidden="1">
            <a:extLst>
              <a:ext uri="{FF2B5EF4-FFF2-40B4-BE49-F238E27FC236}">
                <a16:creationId xmlns:a16="http://schemas.microsoft.com/office/drawing/2014/main" id="{1ADAAA14-A940-9E53-390A-9B57398BED4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IN" smtClean="0"/>
              <a:pPr marL="0" lvl="0" indent="0" algn="r" rtl="0">
                <a:spcBef>
                  <a:spcPts val="0"/>
                </a:spcBef>
                <a:spcAft>
                  <a:spcPts val="600"/>
                </a:spcAft>
                <a:buNone/>
              </a:pPr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79466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F22B3663-1957-C7F2-D78F-65E58D09F0FD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2"/>
          <a:srcRect b="4459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Slide Number Placeholder 4" hidden="1">
            <a:extLst>
              <a:ext uri="{FF2B5EF4-FFF2-40B4-BE49-F238E27FC236}">
                <a16:creationId xmlns:a16="http://schemas.microsoft.com/office/drawing/2014/main" id="{A2A0FF87-429C-FF21-046F-12516AB952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IN" smtClean="0"/>
              <a:pPr marL="0" lvl="0" indent="0" algn="r" rtl="0">
                <a:spcBef>
                  <a:spcPts val="0"/>
                </a:spcBef>
                <a:spcAft>
                  <a:spcPts val="600"/>
                </a:spcAft>
                <a:buNone/>
              </a:pPr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80645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C3137D62-2868-53AC-E340-8BAC69A59967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2"/>
          <a:srcRect t="9707" b="10506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Slide Number Placeholder 4" hidden="1">
            <a:extLst>
              <a:ext uri="{FF2B5EF4-FFF2-40B4-BE49-F238E27FC236}">
                <a16:creationId xmlns:a16="http://schemas.microsoft.com/office/drawing/2014/main" id="{F016EDB2-D2D3-A267-9BCE-931DE900E3B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IN" smtClean="0"/>
              <a:pPr marL="0" lvl="0" indent="0" algn="r" rtl="0">
                <a:spcBef>
                  <a:spcPts val="0"/>
                </a:spcBef>
                <a:spcAft>
                  <a:spcPts val="600"/>
                </a:spcAft>
                <a:buNone/>
              </a:pPr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87532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34440"/>
            <a:ext cx="8229600" cy="548640"/>
          </a:xfrm>
        </p:spPr>
        <p:txBody>
          <a:bodyPr/>
          <a:lstStyle/>
          <a:p>
            <a:pPr algn="ctr"/>
            <a:r>
              <a:rPr sz="2800" b="1" dirty="0"/>
              <a:t>Time &amp; Space Complexity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783080"/>
            <a:ext cx="822960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</a:rPr>
              <a:t>V = locations (6), D = drones (5), N = pending tasks, H = completed deliveries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2194560"/>
          <a:ext cx="8412480" cy="3721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Operation / Function</a:t>
                      </a:r>
                    </a:p>
                  </a:txBody>
                  <a:tcPr marL="64008" marR="64008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Data Structure</a:t>
                      </a:r>
                    </a:p>
                  </a:txBody>
                  <a:tcPr marL="64008" marR="64008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Time Complexity</a:t>
                      </a:r>
                    </a:p>
                  </a:txBody>
                  <a:tcPr marL="64008" marR="64008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Reason</a:t>
                      </a:r>
                    </a:p>
                  </a:txBody>
                  <a:tcPr marL="64008" marR="64008" marT="27432" marB="27432"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22222"/>
                          </a:solidFill>
                        </a:rPr>
                        <a:t>enqueue / dequeue (any priority)</a:t>
                      </a:r>
                    </a:p>
                  </a:txBody>
                  <a:tcPr marL="64008" marR="64008" marT="27432" marB="27432" anchor="ctr"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Circular queue</a:t>
                      </a:r>
                    </a:p>
                  </a:txBody>
                  <a:tcPr marL="64008" marR="64008" marT="27432" marB="27432" anchor="ctr"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O(1)</a:t>
                      </a:r>
                    </a:p>
                  </a:txBody>
                  <a:tcPr marL="64008" marR="64008" marT="27432" marB="27432" anchor="ctr"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Front / rear index update</a:t>
                      </a:r>
                    </a:p>
                  </a:txBody>
                  <a:tcPr marL="64008" marR="64008" marT="27432" marB="27432" anchor="ctr">
                    <a:solidFill>
                      <a:srgbClr val="DCE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22222"/>
                          </a:solidFill>
                        </a:rPr>
                        <a:t>getNextTask()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3 queues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O(1)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Checks 3 counters only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22222"/>
                          </a:solidFill>
                        </a:rPr>
                        <a:t>calculateShortestDistance / dijkstra</a:t>
                      </a:r>
                    </a:p>
                  </a:txBody>
                  <a:tcPr marL="64008" marR="64008" marT="27432" marB="27432" anchor="ctr"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Graph (matrix)</a:t>
                      </a:r>
                    </a:p>
                  </a:txBody>
                  <a:tcPr marL="64008" marR="64008" marT="27432" marB="27432" anchor="ctr"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O(V²)</a:t>
                      </a:r>
                    </a:p>
                  </a:txBody>
                  <a:tcPr marL="64008" marR="64008" marT="27432" marB="27432" anchor="ctr"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V × V scan, array-based</a:t>
                      </a:r>
                    </a:p>
                  </a:txBody>
                  <a:tcPr marL="64008" marR="64008" marT="27432" marB="27432" anchor="ctr">
                    <a:solidFill>
                      <a:srgbClr val="DCE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22222"/>
                          </a:solidFill>
                        </a:rPr>
                        <a:t>addTask()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Queue + Graph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O(V²)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One Dijkstra call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22222"/>
                          </a:solidFill>
                        </a:rPr>
                        <a:t>assignDrone()</a:t>
                      </a:r>
                    </a:p>
                  </a:txBody>
                  <a:tcPr marL="64008" marR="64008" marT="27432" marB="27432" anchor="ctr"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Array + Graph</a:t>
                      </a:r>
                    </a:p>
                  </a:txBody>
                  <a:tcPr marL="64008" marR="64008" marT="27432" marB="27432" anchor="ctr"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O(D · V²)</a:t>
                      </a:r>
                    </a:p>
                  </a:txBody>
                  <a:tcPr marL="64008" marR="64008" marT="27432" marB="27432" anchor="ctr"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3 Dijkstra per drone</a:t>
                      </a:r>
                    </a:p>
                  </a:txBody>
                  <a:tcPr marL="64008" marR="64008" marT="27432" marB="27432" anchor="ctr">
                    <a:solidFill>
                      <a:srgbClr val="DCE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22222"/>
                          </a:solidFill>
                        </a:rPr>
                        <a:t>addHistory()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Linked list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O(1)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Insert at head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22222"/>
                          </a:solidFill>
                        </a:rPr>
                        <a:t>displayHistory()</a:t>
                      </a:r>
                    </a:p>
                  </a:txBody>
                  <a:tcPr marL="64008" marR="64008" marT="27432" marB="27432" anchor="ctr"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Linked list</a:t>
                      </a:r>
                    </a:p>
                  </a:txBody>
                  <a:tcPr marL="64008" marR="64008" marT="27432" marB="27432" anchor="ctr"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O(H)</a:t>
                      </a:r>
                    </a:p>
                  </a:txBody>
                  <a:tcPr marL="64008" marR="64008" marT="27432" marB="27432" anchor="ctr"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Traverse all nodes</a:t>
                      </a:r>
                    </a:p>
                  </a:txBody>
                  <a:tcPr marL="64008" marR="64008" marT="27432" marB="27432" anchor="ctr">
                    <a:solidFill>
                      <a:srgbClr val="DCE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22222"/>
                          </a:solidFill>
                        </a:rPr>
                        <a:t>displayTasks()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Queues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O(N)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Traverse 3 queues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22222"/>
                          </a:solidFill>
                        </a:rPr>
                        <a:t>displayDrones() / Statistics</a:t>
                      </a:r>
                    </a:p>
                  </a:txBody>
                  <a:tcPr marL="64008" marR="64008" marT="27432" marB="27432" anchor="ctr"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Array</a:t>
                      </a:r>
                    </a:p>
                  </a:txBody>
                  <a:tcPr marL="64008" marR="64008" marT="27432" marB="27432" anchor="ctr"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O(D)</a:t>
                      </a:r>
                    </a:p>
                  </a:txBody>
                  <a:tcPr marL="64008" marR="64008" marT="27432" marB="27432" anchor="ctr"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Single loop</a:t>
                      </a:r>
                    </a:p>
                  </a:txBody>
                  <a:tcPr marL="64008" marR="64008" marT="27432" marB="27432" anchor="ctr">
                    <a:solidFill>
                      <a:srgbClr val="DCE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22222"/>
                          </a:solidFill>
                        </a:rPr>
                        <a:t>initializeGraph()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Matrix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O(V²)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</a:rPr>
                        <a:t>Fill V × V matrix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943600"/>
            <a:ext cx="82296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1F3A5F"/>
                </a:solidFill>
              </a:rPr>
              <a:t>Space: queues O(3·MAX_TASKS), graph O(V²), history list O(H). Since V and D are small constants, all operations run almost instantly.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34440"/>
            <a:ext cx="8229600" cy="548640"/>
          </a:xfrm>
        </p:spPr>
        <p:txBody>
          <a:bodyPr/>
          <a:lstStyle/>
          <a:p>
            <a:pPr algn="ctr"/>
            <a:r>
              <a:rPr sz="2800" b="1"/>
              <a:t>Advantages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011680"/>
            <a:ext cx="7863840" cy="40233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28600" indent="-182880" algn="l">
              <a:spcAft>
                <a:spcPts val="900"/>
              </a:spcAft>
              <a:buChar char="•"/>
            </a:pPr>
            <a:r>
              <a:rPr sz="1600" b="0" dirty="0">
                <a:solidFill>
                  <a:srgbClr val="333333"/>
                </a:solidFill>
              </a:rPr>
              <a:t>Simple menu-driven and easy to use</a:t>
            </a:r>
          </a:p>
          <a:p>
            <a:pPr marL="228600" indent="-182880" algn="l">
              <a:spcAft>
                <a:spcPts val="900"/>
              </a:spcAft>
              <a:buChar char="•"/>
            </a:pPr>
            <a:r>
              <a:rPr sz="1600" b="0" dirty="0">
                <a:solidFill>
                  <a:srgbClr val="333333"/>
                </a:solidFill>
              </a:rPr>
              <a:t>Demonstrates Queue, Linked List, Graph, Array and Structure together</a:t>
            </a:r>
          </a:p>
          <a:p>
            <a:pPr marL="228600" indent="-182880" algn="l">
              <a:spcAft>
                <a:spcPts val="900"/>
              </a:spcAft>
              <a:buChar char="•"/>
            </a:pPr>
            <a:r>
              <a:rPr sz="1600" b="0" dirty="0">
                <a:solidFill>
                  <a:srgbClr val="333333"/>
                </a:solidFill>
              </a:rPr>
              <a:t>Emergency tasks are always served first</a:t>
            </a:r>
          </a:p>
          <a:p>
            <a:pPr marL="228600" indent="-182880" algn="l">
              <a:spcAft>
                <a:spcPts val="900"/>
              </a:spcAft>
              <a:buChar char="•"/>
            </a:pPr>
            <a:r>
              <a:rPr sz="1600" b="0" dirty="0">
                <a:solidFill>
                  <a:srgbClr val="333333"/>
                </a:solidFill>
              </a:rPr>
              <a:t>Shortest route found using Dijkstra’s algorithm</a:t>
            </a:r>
          </a:p>
          <a:p>
            <a:pPr marL="228600" indent="-182880" algn="l">
              <a:spcAft>
                <a:spcPts val="900"/>
              </a:spcAft>
              <a:buChar char="•"/>
            </a:pPr>
            <a:r>
              <a:rPr sz="1600" b="0" dirty="0">
                <a:solidFill>
                  <a:srgbClr val="333333"/>
                </a:solidFill>
              </a:rPr>
              <a:t>Battery check prevents unsafe assignments</a:t>
            </a:r>
          </a:p>
          <a:p>
            <a:pPr marL="228600" indent="-182880" algn="l">
              <a:spcAft>
                <a:spcPts val="900"/>
              </a:spcAft>
              <a:buChar char="•"/>
            </a:pPr>
            <a:r>
              <a:rPr sz="1600" b="0" dirty="0">
                <a:solidFill>
                  <a:srgbClr val="333333"/>
                </a:solidFill>
              </a:rPr>
              <a:t>Dynamic delivery history using a linked list</a:t>
            </a:r>
          </a:p>
          <a:p>
            <a:pPr marL="228600" indent="-182880" algn="l">
              <a:spcAft>
                <a:spcPts val="900"/>
              </a:spcAft>
              <a:buChar char="•"/>
            </a:pPr>
            <a:r>
              <a:rPr sz="1600" b="0" dirty="0">
                <a:solidFill>
                  <a:srgbClr val="333333"/>
                </a:solidFill>
              </a:rPr>
              <a:t>Can be extended into a larger real-world application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34440"/>
            <a:ext cx="8229600" cy="548640"/>
          </a:xfrm>
        </p:spPr>
        <p:txBody>
          <a:bodyPr/>
          <a:lstStyle/>
          <a:p>
            <a:pPr algn="ctr"/>
            <a:r>
              <a:rPr sz="2800" b="1"/>
              <a:t>Limitations &amp;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017915"/>
            <a:ext cx="402336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dirty="0">
                <a:solidFill>
                  <a:srgbClr val="1F3A5F"/>
                </a:solidFill>
              </a:rPr>
              <a:t>Current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391987"/>
            <a:ext cx="4023360" cy="40233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28600" indent="-182880" algn="l">
              <a:spcAft>
                <a:spcPts val="500"/>
              </a:spcAft>
              <a:buChar char="•"/>
            </a:pPr>
            <a:r>
              <a:rPr sz="1300" b="0" dirty="0">
                <a:solidFill>
                  <a:srgbClr val="333333"/>
                </a:solidFill>
              </a:rPr>
              <a:t>Console-based system</a:t>
            </a:r>
          </a:p>
          <a:p>
            <a:pPr marL="228600" indent="-182880" algn="l">
              <a:spcAft>
                <a:spcPts val="500"/>
              </a:spcAft>
              <a:buChar char="•"/>
            </a:pPr>
            <a:r>
              <a:rPr sz="1300" b="0" dirty="0">
                <a:solidFill>
                  <a:srgbClr val="333333"/>
                </a:solidFill>
              </a:rPr>
              <a:t>Fixed 6 locations and 5 drones</a:t>
            </a:r>
          </a:p>
          <a:p>
            <a:pPr marL="228600" indent="-182880" algn="l">
              <a:spcAft>
                <a:spcPts val="500"/>
              </a:spcAft>
              <a:buChar char="•"/>
            </a:pPr>
            <a:r>
              <a:rPr sz="1300" b="0" dirty="0">
                <a:solidFill>
                  <a:srgbClr val="333333"/>
                </a:solidFill>
              </a:rPr>
              <a:t>No charging logic (status 2 unused)</a:t>
            </a:r>
          </a:p>
          <a:p>
            <a:pPr marL="228600" indent="-182880" algn="l">
              <a:spcAft>
                <a:spcPts val="500"/>
              </a:spcAft>
              <a:buChar char="•"/>
            </a:pPr>
            <a:r>
              <a:rPr sz="1300" b="0" dirty="0">
                <a:solidFill>
                  <a:srgbClr val="333333"/>
                </a:solidFill>
              </a:rPr>
              <a:t>Unassigned task goes back to the rear of its queue</a:t>
            </a:r>
          </a:p>
          <a:p>
            <a:pPr marL="228600" indent="-182880" algn="l">
              <a:spcAft>
                <a:spcPts val="500"/>
              </a:spcAft>
              <a:buChar char="•"/>
            </a:pPr>
            <a:r>
              <a:rPr sz="1300" b="0" dirty="0">
                <a:solidFill>
                  <a:srgbClr val="333333"/>
                </a:solidFill>
              </a:rPr>
              <a:t>Delivery is simulated, not real-time</a:t>
            </a:r>
          </a:p>
          <a:p>
            <a:pPr marL="228600" indent="-182880" algn="l">
              <a:spcAft>
                <a:spcPts val="500"/>
              </a:spcAft>
              <a:buChar char="•"/>
            </a:pPr>
            <a:r>
              <a:rPr sz="1300" b="0" dirty="0">
                <a:solidFill>
                  <a:srgbClr val="333333"/>
                </a:solidFill>
              </a:rPr>
              <a:t>Map text differs slightly from graph distances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63442" y="1988820"/>
            <a:ext cx="402336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dirty="0">
                <a:solidFill>
                  <a:srgbClr val="1F3A5F"/>
                </a:solidFill>
              </a:rPr>
              <a:t>Future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391987"/>
            <a:ext cx="4023360" cy="40233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28600" indent="-182880" algn="l">
              <a:spcAft>
                <a:spcPts val="500"/>
              </a:spcAft>
              <a:buChar char="•"/>
            </a:pPr>
            <a:r>
              <a:rPr sz="1300" b="0" dirty="0">
                <a:solidFill>
                  <a:srgbClr val="333333"/>
                </a:solidFill>
              </a:rPr>
              <a:t>Automatic charging scheduling</a:t>
            </a:r>
          </a:p>
          <a:p>
            <a:pPr marL="228600" indent="-182880" algn="l">
              <a:spcAft>
                <a:spcPts val="500"/>
              </a:spcAft>
              <a:buChar char="•"/>
            </a:pPr>
            <a:r>
              <a:rPr sz="1300" b="0" dirty="0">
                <a:solidFill>
                  <a:srgbClr val="333333"/>
                </a:solidFill>
              </a:rPr>
              <a:t>Multiple drones per delivery</a:t>
            </a:r>
          </a:p>
          <a:p>
            <a:pPr marL="228600" indent="-182880" algn="l">
              <a:spcAft>
                <a:spcPts val="500"/>
              </a:spcAft>
              <a:buChar char="•"/>
            </a:pPr>
            <a:r>
              <a:rPr sz="1300" b="0" dirty="0">
                <a:solidFill>
                  <a:srgbClr val="333333"/>
                </a:solidFill>
              </a:rPr>
              <a:t>Real-time tracking and GUI</a:t>
            </a:r>
          </a:p>
          <a:p>
            <a:pPr marL="228600" indent="-182880" algn="l">
              <a:spcAft>
                <a:spcPts val="500"/>
              </a:spcAft>
              <a:buChar char="•"/>
            </a:pPr>
            <a:r>
              <a:rPr sz="1300" b="0" dirty="0">
                <a:solidFill>
                  <a:srgbClr val="333333"/>
                </a:solidFill>
              </a:rPr>
              <a:t>Dynamic map (add / remove locations)</a:t>
            </a:r>
          </a:p>
          <a:p>
            <a:pPr marL="228600" indent="-182880" algn="l">
              <a:spcAft>
                <a:spcPts val="500"/>
              </a:spcAft>
              <a:buChar char="•"/>
            </a:pPr>
            <a:r>
              <a:rPr sz="1300" b="0" dirty="0">
                <a:solidFill>
                  <a:srgbClr val="333333"/>
                </a:solidFill>
              </a:rPr>
              <a:t>Priority queue using heap</a:t>
            </a:r>
          </a:p>
          <a:p>
            <a:pPr marL="228600" indent="-182880" algn="l">
              <a:spcAft>
                <a:spcPts val="500"/>
              </a:spcAft>
              <a:buChar char="•"/>
            </a:pPr>
            <a:r>
              <a:rPr sz="1300" b="0" dirty="0">
                <a:solidFill>
                  <a:srgbClr val="333333"/>
                </a:solidFill>
              </a:rPr>
              <a:t>Database and GPS integration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34440"/>
            <a:ext cx="8229600" cy="548640"/>
          </a:xfrm>
        </p:spPr>
        <p:txBody>
          <a:bodyPr/>
          <a:lstStyle/>
          <a:p>
            <a:pPr algn="ctr"/>
            <a:r>
              <a:rPr sz="2800"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33333"/>
                </a:solidFill>
              </a:rPr>
              <a:t>Our project demonstrates how basic Data Structures and algorithms can be combined to solve a real-world delivery problem.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108960"/>
            <a:ext cx="822960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3A5F"/>
                </a:solidFill>
              </a:rPr>
              <a:t>We successfully implemented: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66160"/>
            <a:ext cx="7680960" cy="2560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28600" indent="-182880" algn="l">
              <a:spcAft>
                <a:spcPts val="700"/>
              </a:spcAft>
              <a:buChar char="•"/>
            </a:pPr>
            <a:r>
              <a:rPr sz="1600" b="0">
                <a:solidFill>
                  <a:srgbClr val="333333"/>
                </a:solidFill>
              </a:rPr>
              <a:t>Array → Drone management</a:t>
            </a:r>
          </a:p>
          <a:p>
            <a:pPr marL="228600" indent="-182880" algn="l">
              <a:spcAft>
                <a:spcPts val="700"/>
              </a:spcAft>
              <a:buChar char="•"/>
            </a:pPr>
            <a:r>
              <a:rPr sz="1600" b="0">
                <a:solidFill>
                  <a:srgbClr val="333333"/>
                </a:solidFill>
              </a:rPr>
              <a:t>Structure → Data organization</a:t>
            </a:r>
          </a:p>
          <a:p>
            <a:pPr marL="228600" indent="-182880" algn="l">
              <a:spcAft>
                <a:spcPts val="700"/>
              </a:spcAft>
              <a:buChar char="•"/>
            </a:pPr>
            <a:r>
              <a:rPr sz="1600" b="0">
                <a:solidFill>
                  <a:srgbClr val="333333"/>
                </a:solidFill>
              </a:rPr>
              <a:t>Circular Queue → Priority task scheduling</a:t>
            </a:r>
          </a:p>
          <a:p>
            <a:pPr marL="228600" indent="-182880" algn="l">
              <a:spcAft>
                <a:spcPts val="700"/>
              </a:spcAft>
              <a:buChar char="•"/>
            </a:pPr>
            <a:r>
              <a:rPr sz="1600" b="0">
                <a:solidFill>
                  <a:srgbClr val="333333"/>
                </a:solidFill>
              </a:rPr>
              <a:t>Linked List → Delivery history</a:t>
            </a:r>
          </a:p>
          <a:p>
            <a:pPr marL="228600" indent="-182880" algn="l">
              <a:spcAft>
                <a:spcPts val="700"/>
              </a:spcAft>
              <a:buChar char="•"/>
            </a:pPr>
            <a:r>
              <a:rPr sz="1600" b="0">
                <a:solidFill>
                  <a:srgbClr val="333333"/>
                </a:solidFill>
              </a:rPr>
              <a:t>Graph + Dijkstra → Shortest route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PST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388</TotalTime>
  <Words>1754</Words>
  <Application>Microsoft Macintosh PowerPoint</Application>
  <PresentationFormat>On-screen Show (4:3)</PresentationFormat>
  <Paragraphs>309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Noto Sans Symbols</vt:lpstr>
      <vt:lpstr>MPSTME</vt:lpstr>
      <vt:lpstr>DRONE SWARM DELIVERY SYSTEM</vt:lpstr>
      <vt:lpstr>Why Did We Choose This Project?</vt:lpstr>
      <vt:lpstr>Problem Statement</vt:lpstr>
      <vt:lpstr>Objectives of Our Project</vt:lpstr>
      <vt:lpstr>Data Structures Used</vt:lpstr>
      <vt:lpstr>Priority Task Queues</vt:lpstr>
      <vt:lpstr>Campus Map as a Graph</vt:lpstr>
      <vt:lpstr>Drone Assignment Logic</vt:lpstr>
      <vt:lpstr>Delivery History – Linked List</vt:lpstr>
      <vt:lpstr>Algorithm 1: Add Delivery Task</vt:lpstr>
      <vt:lpstr>Algorithm 2: Assign Drone to Task</vt:lpstr>
      <vt:lpstr>Algorithm 3: Dijkstra’s Shortest Path</vt:lpstr>
      <vt:lpstr>Flowchart 1: Assign Drone</vt:lpstr>
      <vt:lpstr>Flowchart 2: Dijkstra’s Algorithm</vt:lpstr>
      <vt:lpstr>Output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Time &amp; Space Complexity</vt:lpstr>
      <vt:lpstr>Advantages</vt:lpstr>
      <vt:lpstr>Limitations &amp; Future Scope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B.Tech. / MBA Tech. (----Name of Stream----) Semester: II/IV  Course: Community Services Academic Year: 2021-22</dc:title>
  <dc:creator>Dhirendra Mishra</dc:creator>
  <cp:lastModifiedBy>SWAYAM TANDEL - 70022500659</cp:lastModifiedBy>
  <cp:revision>30</cp:revision>
  <dcterms:created xsi:type="dcterms:W3CDTF">2017-04-11T09:48:28Z</dcterms:created>
  <dcterms:modified xsi:type="dcterms:W3CDTF">2026-10-04T16:37:12Z</dcterms:modified>
</cp:coreProperties>
</file>